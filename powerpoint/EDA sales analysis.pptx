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86" r:id="rId7"/>
    <p:sldId id="287" r:id="rId8"/>
    <p:sldId id="288" r:id="rId9"/>
    <p:sldId id="289" r:id="rId10"/>
    <p:sldId id="290" r:id="rId11"/>
    <p:sldId id="292" r:id="rId12"/>
    <p:sldId id="293" r:id="rId13"/>
    <p:sldId id="294"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94660"/>
  </p:normalViewPr>
  <p:slideViewPr>
    <p:cSldViewPr snapToGrid="0">
      <p:cViewPr varScale="1">
        <p:scale>
          <a:sx n="82" d="100"/>
          <a:sy n="82" d="100"/>
        </p:scale>
        <p:origin x="662"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12/20/2025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12/20/2025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finereport.com/en/data-analysis/sales-analysis.html"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vivek468/superstore-dataset-final/data"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linkedin.com/in/gaurav-kumar-mahato/" TargetMode="External"/><Relationship Id="rId2" Type="http://schemas.openxmlformats.org/officeDocument/2006/relationships/hyperlink" Target="mailto:gaurav979mahato@gmail.com"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653332" y="2005149"/>
            <a:ext cx="8603199" cy="1131243"/>
          </a:xfrm>
        </p:spPr>
        <p:txBody>
          <a:bodyPr/>
          <a:lstStyle/>
          <a:p>
            <a:r>
              <a:rPr lang="en-US" dirty="0"/>
              <a:t>SALES DATA ANALYSIS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709516" y="3136392"/>
            <a:ext cx="7884741" cy="757086"/>
          </a:xfrm>
        </p:spPr>
        <p:txBody>
          <a:bodyPr/>
          <a:lstStyle/>
          <a:p>
            <a:pPr marL="0" indent="0" algn="ctr">
              <a:buNone/>
            </a:pPr>
            <a:r>
              <a:rPr lang="en-US" dirty="0"/>
              <a:t>LEVERAGING EDA FOR IMPROVED DECISION-MAKING (GAURAV KUMAR MAHATO)</a:t>
            </a:r>
          </a:p>
        </p:txBody>
      </p:sp>
      <p:pic>
        <p:nvPicPr>
          <p:cNvPr id="6" name="Picture 5">
            <a:extLst>
              <a:ext uri="{FF2B5EF4-FFF2-40B4-BE49-F238E27FC236}">
                <a16:creationId xmlns:a16="http://schemas.microsoft.com/office/drawing/2014/main" id="{475F99D2-AE16-4CC6-84A5-7EB6FC400F69}"/>
              </a:ext>
            </a:extLst>
          </p:cNvPr>
          <p:cNvPicPr>
            <a:picLocks noChangeAspect="1"/>
          </p:cNvPicPr>
          <p:nvPr/>
        </p:nvPicPr>
        <p:blipFill rotWithShape="1">
          <a:blip r:embed="rId2">
            <a:alphaModFix amt="80000"/>
            <a:extLst>
              <a:ext uri="{837473B0-CC2E-450A-ABE3-18F120FF3D39}">
                <a1611:picAttrSrcUrl xmlns:a1611="http://schemas.microsoft.com/office/drawing/2016/11/main" r:id="rId3"/>
              </a:ext>
            </a:extLst>
          </a:blip>
          <a:srcRect l="43952" t="15627" r="7822"/>
          <a:stretch/>
        </p:blipFill>
        <p:spPr>
          <a:xfrm>
            <a:off x="8962101" y="4245312"/>
            <a:ext cx="3195485" cy="2612688"/>
          </a:xfrm>
          <a:prstGeom prst="rect">
            <a:avLst/>
          </a:prstGeom>
          <a:ln>
            <a:noFill/>
          </a:ln>
          <a:scene3d>
            <a:camera prst="orthographicFront"/>
            <a:lightRig rig="threePt" dir="t"/>
          </a:scene3d>
          <a:sp3d>
            <a:bevelT prst="angle"/>
          </a:sp3d>
        </p:spPr>
      </p:pic>
    </p:spTree>
    <p:extLst>
      <p:ext uri="{BB962C8B-B14F-4D97-AF65-F5344CB8AC3E}">
        <p14:creationId xmlns:p14="http://schemas.microsoft.com/office/powerpoint/2010/main" val="3946934594"/>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99484" y="1133168"/>
            <a:ext cx="11021185" cy="859055"/>
          </a:xfrm>
        </p:spPr>
        <p:txBody>
          <a:bodyPr>
            <a:normAutofit/>
          </a:bodyPr>
          <a:lstStyle/>
          <a:p>
            <a:r>
              <a:rPr lang="en-US" sz="4000" dirty="0"/>
              <a:t>EXPLORATORY DATA ANALYSIS (EDA)</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615793" y="2424635"/>
            <a:ext cx="7928692" cy="3445223"/>
          </a:xfrm>
        </p:spPr>
        <p:txBody>
          <a:bodyPr>
            <a:normAutofit/>
          </a:bodyPr>
          <a:lstStyle/>
          <a:p>
            <a:pPr algn="ctr"/>
            <a:r>
              <a:rPr lang="en-US" sz="1800" dirty="0"/>
              <a:t>EDA (Exploratory Data Analysis) Is Like Detective Work For Data, Using Visualization And Analysis To Uncover Hidden Patterns And Stories.</a:t>
            </a:r>
          </a:p>
          <a:p>
            <a:pPr algn="ctr"/>
            <a:endParaRPr lang="en-US" sz="1800" dirty="0"/>
          </a:p>
          <a:p>
            <a:pPr marL="342900" indent="-342900" algn="ctr">
              <a:buFont typeface="Arial" panose="020B0604020202020204" pitchFamily="34" charset="0"/>
              <a:buChar char="•"/>
            </a:pPr>
            <a:r>
              <a:rPr lang="en-US" sz="2000" dirty="0"/>
              <a:t>Summarizes Data </a:t>
            </a:r>
          </a:p>
          <a:p>
            <a:pPr marL="285750" indent="-285750" algn="ctr">
              <a:buFont typeface="Arial" panose="020B0604020202020204" pitchFamily="34" charset="0"/>
              <a:buChar char="•"/>
            </a:pPr>
            <a:r>
              <a:rPr lang="en-US" sz="2000" dirty="0"/>
              <a:t>Identifies Trends </a:t>
            </a:r>
          </a:p>
          <a:p>
            <a:pPr marL="285750" indent="-285750" algn="ctr">
              <a:buFont typeface="Arial" panose="020B0604020202020204" pitchFamily="34" charset="0"/>
              <a:buChar char="•"/>
            </a:pPr>
            <a:r>
              <a:rPr lang="en-US" sz="2000" dirty="0"/>
              <a:t>Explores Relationships </a:t>
            </a:r>
          </a:p>
          <a:p>
            <a:pPr marL="285750" indent="-285750" algn="ctr">
              <a:buFont typeface="Arial" panose="020B0604020202020204" pitchFamily="34" charset="0"/>
              <a:buChar char="•"/>
            </a:pPr>
            <a:r>
              <a:rPr lang="en-US" sz="2000" dirty="0"/>
              <a:t>Detects Anomalies</a:t>
            </a:r>
            <a:endParaRPr lang="en-US" sz="1800" dirty="0"/>
          </a:p>
        </p:txBody>
      </p:sp>
    </p:spTree>
    <p:extLst>
      <p:ext uri="{BB962C8B-B14F-4D97-AF65-F5344CB8AC3E}">
        <p14:creationId xmlns:p14="http://schemas.microsoft.com/office/powerpoint/2010/main" val="290279431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167E6-AF83-4644-8BF0-6686A359F3BC}"/>
              </a:ext>
            </a:extLst>
          </p:cNvPr>
          <p:cNvSpPr>
            <a:spLocks noGrp="1"/>
          </p:cNvSpPr>
          <p:nvPr>
            <p:ph type="title"/>
          </p:nvPr>
        </p:nvSpPr>
        <p:spPr/>
        <p:txBody>
          <a:bodyPr/>
          <a:lstStyle/>
          <a:p>
            <a:r>
              <a:rPr lang="en-US" dirty="0"/>
              <a:t>INTRODUCING OUR DATASET</a:t>
            </a:r>
          </a:p>
        </p:txBody>
      </p:sp>
      <p:sp>
        <p:nvSpPr>
          <p:cNvPr id="5" name="Rectangle: Rounded Corners 4">
            <a:extLst>
              <a:ext uri="{FF2B5EF4-FFF2-40B4-BE49-F238E27FC236}">
                <a16:creationId xmlns:a16="http://schemas.microsoft.com/office/drawing/2014/main" id="{C8F5C795-ECBE-4E3D-A890-4DB05B66DD35}"/>
              </a:ext>
            </a:extLst>
          </p:cNvPr>
          <p:cNvSpPr/>
          <p:nvPr/>
        </p:nvSpPr>
        <p:spPr>
          <a:xfrm>
            <a:off x="653143" y="1593609"/>
            <a:ext cx="6885992" cy="132687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Source: “</a:t>
            </a:r>
            <a:r>
              <a:rPr lang="en-US" sz="2000" b="1" dirty="0"/>
              <a:t>Superstore dataset</a:t>
            </a:r>
            <a:r>
              <a:rPr lang="en-US" sz="2000" dirty="0"/>
              <a:t>” From </a:t>
            </a:r>
            <a:r>
              <a:rPr lang="en-US" sz="2000" b="1" dirty="0"/>
              <a:t>Kaggle</a:t>
            </a:r>
          </a:p>
        </p:txBody>
      </p:sp>
      <p:sp>
        <p:nvSpPr>
          <p:cNvPr id="6" name="Rectangle: Rounded Corners 5">
            <a:extLst>
              <a:ext uri="{FF2B5EF4-FFF2-40B4-BE49-F238E27FC236}">
                <a16:creationId xmlns:a16="http://schemas.microsoft.com/office/drawing/2014/main" id="{504A63AF-B620-4F26-A883-A6AAE37A0AEE}"/>
              </a:ext>
            </a:extLst>
          </p:cNvPr>
          <p:cNvSpPr/>
          <p:nvPr/>
        </p:nvSpPr>
        <p:spPr>
          <a:xfrm>
            <a:off x="653143" y="3096802"/>
            <a:ext cx="6885992" cy="2492236"/>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Description: This Dataset Encompasses Historical Sales Information For A Period Of January 2014 To December 2017. It Includes Key Variables That Provide Insights Into Our Sales Performance And Customer Behavior.</a:t>
            </a:r>
          </a:p>
          <a:p>
            <a:pPr algn="ctr"/>
            <a:r>
              <a:rPr lang="en-US" sz="2000" dirty="0"/>
              <a:t>Key Variables: </a:t>
            </a:r>
            <a:r>
              <a:rPr lang="en-US" sz="2000" b="1" dirty="0"/>
              <a:t>Product Category, Region, Sales, Profit, And Customer Details</a:t>
            </a:r>
            <a:r>
              <a:rPr lang="en-US" sz="2000" dirty="0"/>
              <a:t>.</a:t>
            </a:r>
          </a:p>
          <a:p>
            <a:pPr algn="ctr"/>
            <a:endParaRPr lang="en-US" sz="2000" dirty="0"/>
          </a:p>
        </p:txBody>
      </p:sp>
      <p:sp>
        <p:nvSpPr>
          <p:cNvPr id="8" name="Wave 7">
            <a:hlinkClick r:id="rId2"/>
            <a:extLst>
              <a:ext uri="{FF2B5EF4-FFF2-40B4-BE49-F238E27FC236}">
                <a16:creationId xmlns:a16="http://schemas.microsoft.com/office/drawing/2014/main" id="{B3737472-5156-4527-832F-21AA7B3A74CC}"/>
              </a:ext>
            </a:extLst>
          </p:cNvPr>
          <p:cNvSpPr/>
          <p:nvPr/>
        </p:nvSpPr>
        <p:spPr>
          <a:xfrm>
            <a:off x="8780107" y="3610947"/>
            <a:ext cx="2534816" cy="1101012"/>
          </a:xfrm>
          <a:prstGeom prst="wave">
            <a:avLst>
              <a:gd name="adj1" fmla="val 12500"/>
              <a:gd name="adj2" fmla="val 4786"/>
            </a:avLst>
          </a:prstGeom>
          <a:solidFill>
            <a:schemeClr val="accent2">
              <a:lumMod val="75000"/>
            </a:schemeClr>
          </a:solid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effectLst>
                  <a:outerShdw blurRad="38100" dist="38100" dir="2700000" algn="tl">
                    <a:srgbClr val="000000">
                      <a:alpha val="43137"/>
                    </a:srgbClr>
                  </a:outerShdw>
                </a:effectLst>
                <a:latin typeface="Arial Rounded MT Bold" panose="020F0704030504030204" pitchFamily="34" charset="0"/>
              </a:rPr>
              <a:t>DATASET LINK</a:t>
            </a:r>
          </a:p>
        </p:txBody>
      </p:sp>
    </p:spTree>
    <p:extLst>
      <p:ext uri="{BB962C8B-B14F-4D97-AF65-F5344CB8AC3E}">
        <p14:creationId xmlns:p14="http://schemas.microsoft.com/office/powerpoint/2010/main" val="32061827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5000" accel="50000" decel="50000" fill="hold" grpId="0" nodeType="withEffect">
                                  <p:stCondLst>
                                    <p:cond delay="0"/>
                                  </p:stCondLst>
                                  <p:childTnLst>
                                    <p:animMotion origin="layout" path="M -0.00378 0.00417 L 0.01992 -0.0243 L 0.03151 0.00949 L 0.01536 0.02709 L -0.00833 0.01343 L -0.02904 0.03264 L -0.04115 0.00139 L -0.02591 -0.0162 L -0.00378 0.00417 Z " pathEditMode="relative" ptsTypes="AAAAAAAAA">
                                      <p:cBhvr>
                                        <p:cTn id="6" dur="20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60B62-B65B-4D57-8A37-9EE4FB55EFCD}"/>
              </a:ext>
            </a:extLst>
          </p:cNvPr>
          <p:cNvSpPr>
            <a:spLocks noGrp="1"/>
          </p:cNvSpPr>
          <p:nvPr>
            <p:ph type="title"/>
          </p:nvPr>
        </p:nvSpPr>
        <p:spPr>
          <a:xfrm>
            <a:off x="241300" y="514933"/>
            <a:ext cx="6718300" cy="978729"/>
          </a:xfrm>
        </p:spPr>
        <p:txBody>
          <a:bodyPr/>
          <a:lstStyle/>
          <a:p>
            <a:r>
              <a:rPr lang="en-US" dirty="0">
                <a:effectLst>
                  <a:outerShdw blurRad="38100" dist="38100" dir="2700000" algn="tl">
                    <a:srgbClr val="000000">
                      <a:alpha val="43137"/>
                    </a:srgbClr>
                  </a:outerShdw>
                </a:effectLst>
              </a:rPr>
              <a:t>CLEANING THE DATA FOR CLARITY</a:t>
            </a:r>
          </a:p>
        </p:txBody>
      </p:sp>
      <p:sp>
        <p:nvSpPr>
          <p:cNvPr id="4" name="Text Placeholder 3">
            <a:extLst>
              <a:ext uri="{FF2B5EF4-FFF2-40B4-BE49-F238E27FC236}">
                <a16:creationId xmlns:a16="http://schemas.microsoft.com/office/drawing/2014/main" id="{D168FE9D-1FC1-43B3-8D3D-E0EC661872DA}"/>
              </a:ext>
            </a:extLst>
          </p:cNvPr>
          <p:cNvSpPr>
            <a:spLocks noGrp="1"/>
          </p:cNvSpPr>
          <p:nvPr>
            <p:ph type="body" sz="quarter" idx="13"/>
          </p:nvPr>
        </p:nvSpPr>
        <p:spPr>
          <a:xfrm>
            <a:off x="325275" y="1326396"/>
            <a:ext cx="7456456" cy="1622078"/>
          </a:xfrm>
        </p:spPr>
        <p:txBody>
          <a:bodyPr/>
          <a:lstStyle/>
          <a:p>
            <a:pPr marL="0" indent="0" algn="ctr">
              <a:buNone/>
            </a:pPr>
            <a:r>
              <a:rPr lang="en-US" sz="1800" dirty="0"/>
              <a:t>Analyzing Unclean Data Will Lead To Misleading Results. Inaccurate Or Missing Information Can Skew Trends, Hide Patterns, And Ultimately Lead To Poor Decision. Just As Crucial As Collecting Data Is Ensuring It’s Clean, Meaning Free From Errors And Inconsistencies, To Guarantee A Strong Foundation For Reliable Analysis.</a:t>
            </a:r>
          </a:p>
        </p:txBody>
      </p:sp>
      <p:sp>
        <p:nvSpPr>
          <p:cNvPr id="5" name="TextBox 4">
            <a:extLst>
              <a:ext uri="{FF2B5EF4-FFF2-40B4-BE49-F238E27FC236}">
                <a16:creationId xmlns:a16="http://schemas.microsoft.com/office/drawing/2014/main" id="{231BB1AB-5DBA-4D3B-905E-51D77E92DBDF}"/>
              </a:ext>
            </a:extLst>
          </p:cNvPr>
          <p:cNvSpPr txBox="1"/>
          <p:nvPr/>
        </p:nvSpPr>
        <p:spPr>
          <a:xfrm>
            <a:off x="325275" y="3059668"/>
            <a:ext cx="4460032"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Handling duplicates</a:t>
            </a:r>
            <a:r>
              <a:rPr lang="en-US" dirty="0">
                <a:solidFill>
                  <a:schemeClr val="bg1"/>
                </a:solidFill>
              </a:rPr>
              <a:t>:</a:t>
            </a:r>
          </a:p>
          <a:p>
            <a:pPr marL="574675" indent="-285750">
              <a:buFont typeface="Courier New" panose="02070309020205020404" pitchFamily="49" charset="0"/>
              <a:buChar char="o"/>
            </a:pPr>
            <a:r>
              <a:rPr lang="en-US" dirty="0">
                <a:solidFill>
                  <a:schemeClr val="bg1"/>
                </a:solidFill>
              </a:rPr>
              <a:t> Duplicate data is essentially double entries with all the same information in every field.</a:t>
            </a:r>
          </a:p>
          <a:p>
            <a:pPr marL="574675" indent="-285750">
              <a:buFont typeface="Courier New" panose="02070309020205020404" pitchFamily="49" charset="0"/>
              <a:buChar char="o"/>
            </a:pPr>
            <a:r>
              <a:rPr lang="en-US" dirty="0">
                <a:solidFill>
                  <a:schemeClr val="bg1"/>
                </a:solidFill>
              </a:rPr>
              <a:t> </a:t>
            </a:r>
            <a:r>
              <a:rPr lang="en-US" b="1" dirty="0">
                <a:solidFill>
                  <a:schemeClr val="bg1"/>
                </a:solidFill>
              </a:rPr>
              <a:t>Method: </a:t>
            </a:r>
            <a:r>
              <a:rPr lang="en-US" dirty="0">
                <a:solidFill>
                  <a:schemeClr val="bg1"/>
                </a:solidFill>
              </a:rPr>
              <a:t>Function from pandas</a:t>
            </a:r>
            <a:endParaRPr lang="en-US" b="1" dirty="0">
              <a:solidFill>
                <a:schemeClr val="bg1"/>
              </a:solidFill>
            </a:endParaRPr>
          </a:p>
          <a:p>
            <a:pPr marL="688975" indent="-400050">
              <a:buFont typeface="+mj-lt"/>
              <a:buAutoNum type="romanLcPeriod"/>
            </a:pPr>
            <a:r>
              <a:rPr lang="en-US" dirty="0">
                <a:solidFill>
                  <a:schemeClr val="bg1"/>
                </a:solidFill>
              </a:rPr>
              <a:t>use </a:t>
            </a:r>
            <a:r>
              <a:rPr lang="en-US" dirty="0">
                <a:solidFill>
                  <a:schemeClr val="bg1"/>
                </a:solidFill>
                <a:highlight>
                  <a:srgbClr val="C0C0C0"/>
                </a:highlight>
              </a:rPr>
              <a:t>duplicated().sum()</a:t>
            </a:r>
            <a:r>
              <a:rPr lang="en-US" dirty="0">
                <a:solidFill>
                  <a:schemeClr val="bg1"/>
                </a:solidFill>
              </a:rPr>
              <a:t> to see how many duplicate values.</a:t>
            </a:r>
          </a:p>
          <a:p>
            <a:pPr marL="688975" indent="-400050">
              <a:buFont typeface="+mj-lt"/>
              <a:buAutoNum type="romanLcPeriod"/>
            </a:pPr>
            <a:r>
              <a:rPr lang="en-US" dirty="0">
                <a:solidFill>
                  <a:schemeClr val="bg1"/>
                </a:solidFill>
              </a:rPr>
              <a:t> use </a:t>
            </a:r>
            <a:r>
              <a:rPr lang="en-US" dirty="0">
                <a:solidFill>
                  <a:schemeClr val="bg1"/>
                </a:solidFill>
                <a:highlight>
                  <a:srgbClr val="C0C0C0"/>
                </a:highlight>
              </a:rPr>
              <a:t>loc[data.duplicated()]</a:t>
            </a:r>
            <a:r>
              <a:rPr lang="en-US" dirty="0">
                <a:solidFill>
                  <a:schemeClr val="bg1"/>
                </a:solidFill>
              </a:rPr>
              <a:t> to see which rows are duplicates.</a:t>
            </a:r>
          </a:p>
          <a:p>
            <a:pPr marL="688975" indent="-400050">
              <a:buFont typeface="+mj-lt"/>
              <a:buAutoNum type="romanLcPeriod"/>
            </a:pPr>
            <a:r>
              <a:rPr lang="en-US" dirty="0">
                <a:solidFill>
                  <a:schemeClr val="bg1"/>
                </a:solidFill>
              </a:rPr>
              <a:t> use </a:t>
            </a:r>
            <a:r>
              <a:rPr lang="en-US" dirty="0">
                <a:solidFill>
                  <a:schemeClr val="bg1"/>
                </a:solidFill>
                <a:highlight>
                  <a:srgbClr val="C0C0C0"/>
                </a:highlight>
              </a:rPr>
              <a:t>drop_duplicates()</a:t>
            </a:r>
            <a:r>
              <a:rPr lang="en-US" dirty="0">
                <a:solidFill>
                  <a:schemeClr val="bg1"/>
                </a:solidFill>
              </a:rPr>
              <a:t> to remove duplicate values.</a:t>
            </a:r>
          </a:p>
          <a:p>
            <a:pPr marL="1604963"/>
            <a:endParaRPr lang="en-US" b="1" dirty="0">
              <a:solidFill>
                <a:schemeClr val="bg1"/>
              </a:solidFill>
            </a:endParaRPr>
          </a:p>
          <a:p>
            <a:pPr marL="574675" indent="-285750">
              <a:buFont typeface="Courier New" panose="02070309020205020404" pitchFamily="49" charset="0"/>
              <a:buChar char="o"/>
            </a:pPr>
            <a:endParaRPr lang="en-US" dirty="0">
              <a:solidFill>
                <a:schemeClr val="bg1"/>
              </a:solidFill>
            </a:endParaRPr>
          </a:p>
        </p:txBody>
      </p:sp>
      <p:sp>
        <p:nvSpPr>
          <p:cNvPr id="6" name="TextBox 5">
            <a:extLst>
              <a:ext uri="{FF2B5EF4-FFF2-40B4-BE49-F238E27FC236}">
                <a16:creationId xmlns:a16="http://schemas.microsoft.com/office/drawing/2014/main" id="{174B8445-9DE5-4BE8-B258-7BD3178CAB15}"/>
              </a:ext>
            </a:extLst>
          </p:cNvPr>
          <p:cNvSpPr txBox="1"/>
          <p:nvPr/>
        </p:nvSpPr>
        <p:spPr>
          <a:xfrm>
            <a:off x="5055896" y="3059667"/>
            <a:ext cx="4460032"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Handling missing data (null values):</a:t>
            </a:r>
          </a:p>
          <a:p>
            <a:pPr marL="574675" indent="-285750">
              <a:buFont typeface="Courier New" panose="02070309020205020404" pitchFamily="49" charset="0"/>
              <a:buChar char="o"/>
            </a:pPr>
            <a:r>
              <a:rPr lang="en-US" dirty="0">
                <a:solidFill>
                  <a:schemeClr val="bg1"/>
                </a:solidFill>
              </a:rPr>
              <a:t> Null values are basically empty placeholders in your data, signifying missing or unknown information in a specific field.</a:t>
            </a:r>
          </a:p>
          <a:p>
            <a:pPr marL="574675" indent="-285750">
              <a:buFont typeface="Courier New" panose="02070309020205020404" pitchFamily="49" charset="0"/>
              <a:buChar char="o"/>
            </a:pPr>
            <a:r>
              <a:rPr lang="en-US" dirty="0">
                <a:solidFill>
                  <a:schemeClr val="bg1"/>
                </a:solidFill>
              </a:rPr>
              <a:t> </a:t>
            </a:r>
            <a:r>
              <a:rPr lang="en-US" b="1" dirty="0">
                <a:solidFill>
                  <a:schemeClr val="bg1"/>
                </a:solidFill>
              </a:rPr>
              <a:t>Identifying Null values: </a:t>
            </a:r>
          </a:p>
          <a:p>
            <a:pPr marL="625475"/>
            <a:r>
              <a:rPr lang="en-US" dirty="0">
                <a:solidFill>
                  <a:schemeClr val="bg1"/>
                </a:solidFill>
              </a:rPr>
              <a:t>use </a:t>
            </a:r>
            <a:r>
              <a:rPr lang="en-US" dirty="0">
                <a:solidFill>
                  <a:schemeClr val="bg1"/>
                </a:solidFill>
                <a:highlight>
                  <a:srgbClr val="C0C0C0"/>
                </a:highlight>
              </a:rPr>
              <a:t>isnull().sum()</a:t>
            </a:r>
            <a:r>
              <a:rPr lang="en-US" dirty="0">
                <a:solidFill>
                  <a:schemeClr val="bg1"/>
                </a:solidFill>
              </a:rPr>
              <a:t> from pandas to identify the number of null values in each column.</a:t>
            </a:r>
            <a:endParaRPr lang="en-US" b="1" dirty="0">
              <a:solidFill>
                <a:schemeClr val="bg1"/>
              </a:solidFill>
            </a:endParaRPr>
          </a:p>
          <a:p>
            <a:pPr marL="574675" indent="-285750">
              <a:buFont typeface="Courier New" panose="02070309020205020404" pitchFamily="49" charset="0"/>
              <a:buChar char="o"/>
            </a:pPr>
            <a:endParaRPr lang="en-US" dirty="0">
              <a:solidFill>
                <a:schemeClr val="bg1"/>
              </a:solidFill>
            </a:endParaRPr>
          </a:p>
        </p:txBody>
      </p:sp>
    </p:spTree>
    <p:extLst>
      <p:ext uri="{BB962C8B-B14F-4D97-AF65-F5344CB8AC3E}">
        <p14:creationId xmlns:p14="http://schemas.microsoft.com/office/powerpoint/2010/main" val="365898081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432A5-1CBD-4BB6-BFED-4A54927554C1}"/>
              </a:ext>
            </a:extLst>
          </p:cNvPr>
          <p:cNvSpPr>
            <a:spLocks noGrp="1"/>
          </p:cNvSpPr>
          <p:nvPr>
            <p:ph type="title"/>
          </p:nvPr>
        </p:nvSpPr>
        <p:spPr>
          <a:xfrm>
            <a:off x="444500" y="542925"/>
            <a:ext cx="11214100" cy="480131"/>
          </a:xfrm>
        </p:spPr>
        <p:txBody>
          <a:bodyPr/>
          <a:lstStyle/>
          <a:p>
            <a:r>
              <a:rPr lang="en-US" sz="2800" dirty="0"/>
              <a:t>ENSURING CONSISTENCY FOR ANALYSIS</a:t>
            </a:r>
          </a:p>
        </p:txBody>
      </p:sp>
      <p:sp>
        <p:nvSpPr>
          <p:cNvPr id="4" name="Text Placeholder 3">
            <a:extLst>
              <a:ext uri="{FF2B5EF4-FFF2-40B4-BE49-F238E27FC236}">
                <a16:creationId xmlns:a16="http://schemas.microsoft.com/office/drawing/2014/main" id="{0B5DBFCF-3111-4E0B-9A05-547E06D5406D}"/>
              </a:ext>
            </a:extLst>
          </p:cNvPr>
          <p:cNvSpPr>
            <a:spLocks noGrp="1"/>
          </p:cNvSpPr>
          <p:nvPr>
            <p:ph type="body" sz="quarter" idx="13"/>
          </p:nvPr>
        </p:nvSpPr>
        <p:spPr>
          <a:xfrm>
            <a:off x="677766" y="1746684"/>
            <a:ext cx="6718300" cy="791244"/>
          </a:xfrm>
        </p:spPr>
        <p:txBody>
          <a:bodyPr/>
          <a:lstStyle/>
          <a:p>
            <a:pPr marL="0" indent="0">
              <a:buNone/>
            </a:pPr>
            <a:r>
              <a:rPr lang="en-US" dirty="0"/>
              <a:t>For Consistent Analysis, Ensure Data Types (e.g., Text To Number) Are Uniform Across Relevant Columns.</a:t>
            </a:r>
          </a:p>
        </p:txBody>
      </p:sp>
      <p:sp>
        <p:nvSpPr>
          <p:cNvPr id="3" name="TextBox 2">
            <a:extLst>
              <a:ext uri="{FF2B5EF4-FFF2-40B4-BE49-F238E27FC236}">
                <a16:creationId xmlns:a16="http://schemas.microsoft.com/office/drawing/2014/main" id="{0646377D-35E2-42E7-8DE1-F3A9E684F2D1}"/>
              </a:ext>
            </a:extLst>
          </p:cNvPr>
          <p:cNvSpPr txBox="1"/>
          <p:nvPr/>
        </p:nvSpPr>
        <p:spPr>
          <a:xfrm>
            <a:off x="606489" y="3032448"/>
            <a:ext cx="5365103"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solidFill>
                  <a:schemeClr val="bg1"/>
                </a:solidFill>
              </a:rPr>
              <a:t> Convert ‘date_column’ From object To datetime</a:t>
            </a:r>
          </a:p>
        </p:txBody>
      </p:sp>
      <p:pic>
        <p:nvPicPr>
          <p:cNvPr id="6" name="Picture 5">
            <a:extLst>
              <a:ext uri="{FF2B5EF4-FFF2-40B4-BE49-F238E27FC236}">
                <a16:creationId xmlns:a16="http://schemas.microsoft.com/office/drawing/2014/main" id="{7C0BCF83-D4D6-4167-A1E3-AA4D1964F0B9}"/>
              </a:ext>
            </a:extLst>
          </p:cNvPr>
          <p:cNvPicPr>
            <a:picLocks noChangeAspect="1"/>
          </p:cNvPicPr>
          <p:nvPr/>
        </p:nvPicPr>
        <p:blipFill>
          <a:blip r:embed="rId2"/>
          <a:stretch>
            <a:fillRect/>
          </a:stretch>
        </p:blipFill>
        <p:spPr>
          <a:xfrm>
            <a:off x="862070" y="3460886"/>
            <a:ext cx="5109522" cy="1499970"/>
          </a:xfrm>
          <a:prstGeom prst="rect">
            <a:avLst/>
          </a:prstGeom>
          <a:ln>
            <a:noFill/>
          </a:ln>
          <a:effectLst>
            <a:innerShdw blurRad="63500" dist="50800" dir="10800000">
              <a:prstClr val="black">
                <a:alpha val="50000"/>
              </a:prstClr>
            </a:innerShdw>
          </a:effectLst>
        </p:spPr>
      </p:pic>
      <p:sp>
        <p:nvSpPr>
          <p:cNvPr id="8" name="TextBox 7">
            <a:extLst>
              <a:ext uri="{FF2B5EF4-FFF2-40B4-BE49-F238E27FC236}">
                <a16:creationId xmlns:a16="http://schemas.microsoft.com/office/drawing/2014/main" id="{A928C9C0-3D1C-4777-A513-5ACE8402CB39}"/>
              </a:ext>
            </a:extLst>
          </p:cNvPr>
          <p:cNvSpPr txBox="1"/>
          <p:nvPr/>
        </p:nvSpPr>
        <p:spPr>
          <a:xfrm>
            <a:off x="677766" y="5226506"/>
            <a:ext cx="3569972"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solidFill>
                  <a:schemeClr val="bg1"/>
                </a:solidFill>
              </a:rPr>
              <a:t> Extract year From ‘order date’</a:t>
            </a:r>
          </a:p>
        </p:txBody>
      </p:sp>
      <p:sp>
        <p:nvSpPr>
          <p:cNvPr id="9" name="TextBox 8">
            <a:extLst>
              <a:ext uri="{FF2B5EF4-FFF2-40B4-BE49-F238E27FC236}">
                <a16:creationId xmlns:a16="http://schemas.microsoft.com/office/drawing/2014/main" id="{C9E6E0BE-D7DC-4133-9099-4AB7B2211235}"/>
              </a:ext>
            </a:extLst>
          </p:cNvPr>
          <p:cNvSpPr txBox="1"/>
          <p:nvPr/>
        </p:nvSpPr>
        <p:spPr>
          <a:xfrm>
            <a:off x="1464105" y="5722683"/>
            <a:ext cx="5197952" cy="400110"/>
          </a:xfrm>
          <a:prstGeom prst="rect">
            <a:avLst/>
          </a:prstGeom>
          <a:noFill/>
        </p:spPr>
        <p:txBody>
          <a:bodyPr wrap="square" rtlCol="0">
            <a:spAutoFit/>
          </a:bodyPr>
          <a:lstStyle/>
          <a:p>
            <a:r>
              <a:rPr lang="en-US" sz="2000" dirty="0">
                <a:solidFill>
                  <a:schemeClr val="bg1"/>
                </a:solidFill>
                <a:highlight>
                  <a:srgbClr val="808080"/>
                </a:highlight>
              </a:rPr>
              <a:t>data[‘order year’] = data[‘order date’].dt.year</a:t>
            </a:r>
          </a:p>
        </p:txBody>
      </p:sp>
    </p:spTree>
    <p:extLst>
      <p:ext uri="{BB962C8B-B14F-4D97-AF65-F5344CB8AC3E}">
        <p14:creationId xmlns:p14="http://schemas.microsoft.com/office/powerpoint/2010/main" val="275994626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C546-BBF5-4700-BB32-89A7417AF5BF}"/>
              </a:ext>
            </a:extLst>
          </p:cNvPr>
          <p:cNvSpPr>
            <a:spLocks noGrp="1"/>
          </p:cNvSpPr>
          <p:nvPr>
            <p:ph type="title"/>
          </p:nvPr>
        </p:nvSpPr>
        <p:spPr>
          <a:xfrm>
            <a:off x="444500" y="542925"/>
            <a:ext cx="4547378" cy="535531"/>
          </a:xfrm>
        </p:spPr>
        <p:txBody>
          <a:bodyPr/>
          <a:lstStyle/>
          <a:p>
            <a:r>
              <a:rPr lang="en-US" dirty="0"/>
              <a:t>Unveiling Sales Trends</a:t>
            </a:r>
          </a:p>
        </p:txBody>
      </p:sp>
      <p:sp>
        <p:nvSpPr>
          <p:cNvPr id="3" name="TextBox 2">
            <a:extLst>
              <a:ext uri="{FF2B5EF4-FFF2-40B4-BE49-F238E27FC236}">
                <a16:creationId xmlns:a16="http://schemas.microsoft.com/office/drawing/2014/main" id="{D63667EB-ECFF-459C-8AB8-7F05BC33EC16}"/>
              </a:ext>
            </a:extLst>
          </p:cNvPr>
          <p:cNvSpPr txBox="1"/>
          <p:nvPr/>
        </p:nvSpPr>
        <p:spPr>
          <a:xfrm>
            <a:off x="444500" y="1651519"/>
            <a:ext cx="7561165" cy="646331"/>
          </a:xfrm>
          <a:prstGeom prst="rect">
            <a:avLst/>
          </a:prstGeom>
          <a:noFill/>
        </p:spPr>
        <p:txBody>
          <a:bodyPr wrap="square" rtlCol="0">
            <a:spAutoFit/>
          </a:bodyPr>
          <a:lstStyle/>
          <a:p>
            <a:pPr algn="ctr"/>
            <a:r>
              <a:rPr lang="en-US" dirty="0">
                <a:solidFill>
                  <a:schemeClr val="bg1"/>
                </a:solidFill>
              </a:rPr>
              <a:t>To Really Dig Into The Data, I Used A Kaggle Notebook For A Deep-dive Analysis Exploring Every Angle (Exploratory Data Analysis).</a:t>
            </a:r>
          </a:p>
        </p:txBody>
      </p:sp>
      <p:sp>
        <p:nvSpPr>
          <p:cNvPr id="4" name="TextBox 3">
            <a:extLst>
              <a:ext uri="{FF2B5EF4-FFF2-40B4-BE49-F238E27FC236}">
                <a16:creationId xmlns:a16="http://schemas.microsoft.com/office/drawing/2014/main" id="{BB5E21C5-5A2D-480E-A46E-62C10E2804D5}"/>
              </a:ext>
            </a:extLst>
          </p:cNvPr>
          <p:cNvSpPr txBox="1"/>
          <p:nvPr/>
        </p:nvSpPr>
        <p:spPr>
          <a:xfrm>
            <a:off x="444500" y="2870913"/>
            <a:ext cx="7445829" cy="2862322"/>
          </a:xfrm>
          <a:prstGeom prst="rect">
            <a:avLst/>
          </a:prstGeom>
          <a:noFill/>
        </p:spPr>
        <p:txBody>
          <a:bodyPr wrap="square" rtlCol="0">
            <a:spAutoFit/>
          </a:bodyPr>
          <a:lstStyle/>
          <a:p>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My analysis zoomed in on sales and profits, digging into:</a:t>
            </a:r>
          </a:p>
          <a:p>
            <a:r>
              <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Some key questions</a:t>
            </a:r>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buFont typeface="Arial" panose="020B0604020202020204" pitchFamily="34" charset="0"/>
              <a:buChar char="•"/>
            </a:pPr>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Time trends:</a:t>
            </a:r>
            <a:r>
              <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 Which year had the most sales and profit?</a:t>
            </a:r>
          </a:p>
          <a:p>
            <a:endPar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buFont typeface="Arial" panose="020B0604020202020204" pitchFamily="34" charset="0"/>
              <a:buChar char="•"/>
            </a:pPr>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Regional variations:</a:t>
            </a:r>
            <a:r>
              <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 Which state had the most sales and profit?</a:t>
            </a:r>
          </a:p>
          <a:p>
            <a:endPar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buFont typeface="Arial" panose="020B0604020202020204" pitchFamily="34" charset="0"/>
              <a:buChar char="•"/>
            </a:pPr>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Category breakdowns:</a:t>
            </a:r>
            <a:r>
              <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 Which category had the most sales and profits?</a:t>
            </a:r>
          </a:p>
          <a:p>
            <a:endPar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a:buFont typeface="Arial" panose="020B0604020202020204" pitchFamily="34" charset="0"/>
              <a:buChar char="•"/>
            </a:pPr>
            <a:r>
              <a:rPr lang="en-US" b="1"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Segments: </a:t>
            </a:r>
            <a:r>
              <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Which segment had the highest sales and profits?</a:t>
            </a:r>
          </a:p>
          <a:p>
            <a:endParaRPr lang="en-US"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8" name="Picture 7">
            <a:extLst>
              <a:ext uri="{FF2B5EF4-FFF2-40B4-BE49-F238E27FC236}">
                <a16:creationId xmlns:a16="http://schemas.microsoft.com/office/drawing/2014/main" id="{0B3AB3CD-C695-4FBB-A356-3568B32985A1}"/>
              </a:ext>
            </a:extLst>
          </p:cNvPr>
          <p:cNvPicPr>
            <a:picLocks noChangeAspect="1"/>
          </p:cNvPicPr>
          <p:nvPr/>
        </p:nvPicPr>
        <p:blipFill>
          <a:blip r:embed="rId2"/>
          <a:stretch>
            <a:fillRect/>
          </a:stretch>
        </p:blipFill>
        <p:spPr>
          <a:xfrm>
            <a:off x="8890984" y="2870913"/>
            <a:ext cx="2856516" cy="2862322"/>
          </a:xfrm>
          <a:prstGeom prst="rect">
            <a:avLst/>
          </a:prstGeom>
        </p:spPr>
      </p:pic>
      <p:sp>
        <p:nvSpPr>
          <p:cNvPr id="9" name="TextBox 8">
            <a:extLst>
              <a:ext uri="{FF2B5EF4-FFF2-40B4-BE49-F238E27FC236}">
                <a16:creationId xmlns:a16="http://schemas.microsoft.com/office/drawing/2014/main" id="{ECF94334-DEE1-4BAE-831E-67F689F62A6D}"/>
              </a:ext>
            </a:extLst>
          </p:cNvPr>
          <p:cNvSpPr txBox="1"/>
          <p:nvPr/>
        </p:nvSpPr>
        <p:spPr>
          <a:xfrm>
            <a:off x="8984964" y="1763486"/>
            <a:ext cx="2668555" cy="923330"/>
          </a:xfrm>
          <a:prstGeom prst="rect">
            <a:avLst/>
          </a:prstGeom>
          <a:noFill/>
        </p:spPr>
        <p:txBody>
          <a:bodyPr wrap="square" rtlCol="0">
            <a:spAutoFit/>
          </a:bodyPr>
          <a:lstStyle/>
          <a:p>
            <a:r>
              <a:rPr lang="en-US" b="1" dirty="0">
                <a:solidFill>
                  <a:schemeClr val="bg1"/>
                </a:solidFill>
              </a:rPr>
              <a:t>Example</a:t>
            </a:r>
            <a:r>
              <a:rPr lang="en-US" dirty="0">
                <a:solidFill>
                  <a:schemeClr val="bg1"/>
                </a:solidFill>
              </a:rPr>
              <a:t>:</a:t>
            </a:r>
          </a:p>
          <a:p>
            <a:r>
              <a:rPr lang="en-US" dirty="0">
                <a:solidFill>
                  <a:schemeClr val="bg1"/>
                </a:solidFill>
              </a:rPr>
              <a:t>Top 10 States With Highest Sales</a:t>
            </a:r>
          </a:p>
        </p:txBody>
      </p:sp>
    </p:spTree>
    <p:extLst>
      <p:ext uri="{BB962C8B-B14F-4D97-AF65-F5344CB8AC3E}">
        <p14:creationId xmlns:p14="http://schemas.microsoft.com/office/powerpoint/2010/main" val="241679234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E9861-42B0-4578-AA06-8AA032B22292}"/>
              </a:ext>
            </a:extLst>
          </p:cNvPr>
          <p:cNvSpPr>
            <a:spLocks noGrp="1"/>
          </p:cNvSpPr>
          <p:nvPr>
            <p:ph type="title"/>
          </p:nvPr>
        </p:nvSpPr>
        <p:spPr>
          <a:xfrm>
            <a:off x="444500" y="542925"/>
            <a:ext cx="4538047" cy="535531"/>
          </a:xfrm>
        </p:spPr>
        <p:txBody>
          <a:bodyPr/>
          <a:lstStyle/>
          <a:p>
            <a:r>
              <a:rPr lang="en-US" dirty="0"/>
              <a:t>THE POWER OF SEEING</a:t>
            </a:r>
          </a:p>
        </p:txBody>
      </p:sp>
      <p:sp>
        <p:nvSpPr>
          <p:cNvPr id="4" name="TextBox 3">
            <a:extLst>
              <a:ext uri="{FF2B5EF4-FFF2-40B4-BE49-F238E27FC236}">
                <a16:creationId xmlns:a16="http://schemas.microsoft.com/office/drawing/2014/main" id="{B2DD3396-25BF-49AC-BF30-92B996F9CB55}"/>
              </a:ext>
            </a:extLst>
          </p:cNvPr>
          <p:cNvSpPr txBox="1"/>
          <p:nvPr/>
        </p:nvSpPr>
        <p:spPr>
          <a:xfrm>
            <a:off x="444500" y="1352939"/>
            <a:ext cx="9772520" cy="1477328"/>
          </a:xfrm>
          <a:prstGeom prst="rect">
            <a:avLst/>
          </a:prstGeom>
          <a:noFill/>
        </p:spPr>
        <p:txBody>
          <a:bodyPr wrap="square" rtlCol="0">
            <a:spAutoFit/>
          </a:bodyPr>
          <a:lstStyle/>
          <a:p>
            <a:r>
              <a:rPr lang="en-US" dirty="0">
                <a:solidFill>
                  <a:schemeClr val="bg1"/>
                </a:solidFill>
                <a:latin typeface="+mj-lt"/>
                <a:ea typeface="Arial Unicode MS" panose="020B0604020202020204" pitchFamily="34" charset="-128"/>
                <a:cs typeface="Arial Unicode MS" panose="020B0604020202020204" pitchFamily="34" charset="-128"/>
              </a:rPr>
              <a:t>To bring the insights to life, I used some data visualization tools:</a:t>
            </a:r>
          </a:p>
          <a:p>
            <a:endParaRPr lang="en-US" dirty="0">
              <a:solidFill>
                <a:schemeClr val="bg1"/>
              </a:solidFill>
              <a:latin typeface="+mj-lt"/>
              <a:ea typeface="Arial Unicode MS" panose="020B0604020202020204" pitchFamily="34" charset="-128"/>
              <a:cs typeface="Arial Unicode MS" panose="020B0604020202020204" pitchFamily="34" charset="-128"/>
            </a:endParaRPr>
          </a:p>
          <a:p>
            <a:pPr marL="112713" indent="-112713">
              <a:buFont typeface="Arial" panose="020B0604020202020204" pitchFamily="34" charset="0"/>
              <a:buChar char="•"/>
            </a:pPr>
            <a:r>
              <a:rPr lang="en-US" dirty="0">
                <a:solidFill>
                  <a:schemeClr val="bg1"/>
                </a:solidFill>
                <a:latin typeface="+mj-lt"/>
                <a:ea typeface="Arial Unicode MS" panose="020B0604020202020204" pitchFamily="34" charset="-128"/>
                <a:cs typeface="Arial Unicode MS" panose="020B0604020202020204" pitchFamily="34" charset="-128"/>
              </a:rPr>
              <a:t> </a:t>
            </a:r>
            <a:r>
              <a:rPr lang="en-US" b="1" dirty="0">
                <a:solidFill>
                  <a:schemeClr val="bg1"/>
                </a:solidFill>
                <a:latin typeface="+mj-lt"/>
                <a:ea typeface="Arial Unicode MS" panose="020B0604020202020204" pitchFamily="34" charset="-128"/>
                <a:cs typeface="Arial Unicode MS" panose="020B0604020202020204" pitchFamily="34" charset="-128"/>
              </a:rPr>
              <a:t>Matplotlib</a:t>
            </a:r>
            <a:r>
              <a:rPr lang="en-US" dirty="0">
                <a:solidFill>
                  <a:schemeClr val="bg1"/>
                </a:solidFill>
                <a:latin typeface="+mj-lt"/>
                <a:ea typeface="Arial Unicode MS" panose="020B0604020202020204" pitchFamily="34" charset="-128"/>
                <a:cs typeface="Arial Unicode MS" panose="020B0604020202020204" pitchFamily="34" charset="-128"/>
              </a:rPr>
              <a:t>: A versatile library for creating various charts (like line, bar, scatter).</a:t>
            </a:r>
          </a:p>
          <a:p>
            <a:pPr marL="112713" indent="-112713">
              <a:buFont typeface="Arial" panose="020B0604020202020204" pitchFamily="34" charset="0"/>
              <a:buChar char="•"/>
            </a:pPr>
            <a:r>
              <a:rPr lang="en-US" dirty="0">
                <a:solidFill>
                  <a:schemeClr val="bg1"/>
                </a:solidFill>
                <a:latin typeface="+mj-lt"/>
                <a:ea typeface="Arial Unicode MS" panose="020B0604020202020204" pitchFamily="34" charset="-128"/>
                <a:cs typeface="Arial Unicode MS" panose="020B0604020202020204" pitchFamily="34" charset="-128"/>
              </a:rPr>
              <a:t> </a:t>
            </a:r>
            <a:r>
              <a:rPr lang="en-US" b="1" dirty="0">
                <a:solidFill>
                  <a:schemeClr val="bg1"/>
                </a:solidFill>
                <a:latin typeface="+mj-lt"/>
                <a:ea typeface="Arial Unicode MS" panose="020B0604020202020204" pitchFamily="34" charset="-128"/>
                <a:cs typeface="Arial Unicode MS" panose="020B0604020202020204" pitchFamily="34" charset="-128"/>
              </a:rPr>
              <a:t>Seaborn</a:t>
            </a:r>
            <a:r>
              <a:rPr lang="en-US" dirty="0">
                <a:solidFill>
                  <a:schemeClr val="bg1"/>
                </a:solidFill>
                <a:latin typeface="+mj-lt"/>
                <a:ea typeface="Arial Unicode MS" panose="020B0604020202020204" pitchFamily="34" charset="-128"/>
                <a:cs typeface="Arial Unicode MS" panose="020B0604020202020204" pitchFamily="34" charset="-128"/>
              </a:rPr>
              <a:t>: Built on Matplotlip, Seaborn simplifies creating beautiful statistical visualization.</a:t>
            </a:r>
          </a:p>
          <a:p>
            <a:pPr marL="112713" indent="-112713">
              <a:buFont typeface="Arial" panose="020B0604020202020204" pitchFamily="34" charset="0"/>
              <a:buChar char="•"/>
            </a:pPr>
            <a:r>
              <a:rPr lang="en-US" dirty="0">
                <a:solidFill>
                  <a:schemeClr val="bg1"/>
                </a:solidFill>
                <a:latin typeface="+mj-lt"/>
                <a:ea typeface="Arial Unicode MS" panose="020B0604020202020204" pitchFamily="34" charset="-128"/>
                <a:cs typeface="Arial Unicode MS" panose="020B0604020202020204" pitchFamily="34" charset="-128"/>
              </a:rPr>
              <a:t> </a:t>
            </a:r>
            <a:r>
              <a:rPr lang="en-US" b="1" dirty="0">
                <a:solidFill>
                  <a:schemeClr val="bg1"/>
                </a:solidFill>
                <a:latin typeface="+mj-lt"/>
                <a:ea typeface="Arial Unicode MS" panose="020B0604020202020204" pitchFamily="34" charset="-128"/>
                <a:cs typeface="Arial Unicode MS" panose="020B0604020202020204" pitchFamily="34" charset="-128"/>
              </a:rPr>
              <a:t>Plotly</a:t>
            </a:r>
            <a:r>
              <a:rPr lang="en-US" dirty="0">
                <a:solidFill>
                  <a:schemeClr val="bg1"/>
                </a:solidFill>
                <a:latin typeface="+mj-lt"/>
                <a:ea typeface="Arial Unicode MS" panose="020B0604020202020204" pitchFamily="34" charset="-128"/>
                <a:cs typeface="Arial Unicode MS" panose="020B0604020202020204" pitchFamily="34" charset="-128"/>
              </a:rPr>
              <a:t>: Shines in making interactive visualization for web presentations.</a:t>
            </a:r>
          </a:p>
        </p:txBody>
      </p:sp>
      <p:pic>
        <p:nvPicPr>
          <p:cNvPr id="5" name="Picture 4">
            <a:extLst>
              <a:ext uri="{FF2B5EF4-FFF2-40B4-BE49-F238E27FC236}">
                <a16:creationId xmlns:a16="http://schemas.microsoft.com/office/drawing/2014/main" id="{718AE093-0319-43CE-AEF1-8D5ADD51BD13}"/>
              </a:ext>
            </a:extLst>
          </p:cNvPr>
          <p:cNvPicPr>
            <a:picLocks noChangeAspect="1"/>
          </p:cNvPicPr>
          <p:nvPr/>
        </p:nvPicPr>
        <p:blipFill>
          <a:blip r:embed="rId2"/>
          <a:stretch>
            <a:fillRect/>
          </a:stretch>
        </p:blipFill>
        <p:spPr>
          <a:xfrm>
            <a:off x="2189584" y="3305680"/>
            <a:ext cx="5167543" cy="3552320"/>
          </a:xfrm>
          <a:prstGeom prst="rect">
            <a:avLst/>
          </a:prstGeom>
        </p:spPr>
      </p:pic>
      <p:sp>
        <p:nvSpPr>
          <p:cNvPr id="6" name="TextBox 5">
            <a:extLst>
              <a:ext uri="{FF2B5EF4-FFF2-40B4-BE49-F238E27FC236}">
                <a16:creationId xmlns:a16="http://schemas.microsoft.com/office/drawing/2014/main" id="{51D2061F-FE64-4435-A00F-C22853B35EC2}"/>
              </a:ext>
            </a:extLst>
          </p:cNvPr>
          <p:cNvSpPr txBox="1"/>
          <p:nvPr/>
        </p:nvSpPr>
        <p:spPr>
          <a:xfrm>
            <a:off x="774440" y="3298993"/>
            <a:ext cx="1259633" cy="369332"/>
          </a:xfrm>
          <a:prstGeom prst="rect">
            <a:avLst/>
          </a:prstGeom>
          <a:noFill/>
        </p:spPr>
        <p:txBody>
          <a:bodyPr wrap="square" rtlCol="0">
            <a:spAutoFit/>
          </a:bodyPr>
          <a:lstStyle/>
          <a:p>
            <a:r>
              <a:rPr lang="en-US" b="1" dirty="0">
                <a:solidFill>
                  <a:schemeClr val="bg1"/>
                </a:solidFill>
                <a:effectLst>
                  <a:outerShdw blurRad="38100" dist="38100" dir="2700000" algn="tl">
                    <a:srgbClr val="000000">
                      <a:alpha val="43137"/>
                    </a:srgbClr>
                  </a:outerShdw>
                </a:effectLst>
              </a:rPr>
              <a:t>Example:</a:t>
            </a:r>
          </a:p>
        </p:txBody>
      </p:sp>
    </p:spTree>
    <p:extLst>
      <p:ext uri="{BB962C8B-B14F-4D97-AF65-F5344CB8AC3E}">
        <p14:creationId xmlns:p14="http://schemas.microsoft.com/office/powerpoint/2010/main" val="52651850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86BF77-68EB-4F81-94FC-B5140CE5CDD3}"/>
              </a:ext>
            </a:extLst>
          </p:cNvPr>
          <p:cNvSpPr txBox="1"/>
          <p:nvPr/>
        </p:nvSpPr>
        <p:spPr>
          <a:xfrm>
            <a:off x="438539" y="195943"/>
            <a:ext cx="9349273" cy="584775"/>
          </a:xfrm>
          <a:prstGeom prst="rect">
            <a:avLst/>
          </a:prstGeom>
          <a:noFill/>
        </p:spPr>
        <p:txBody>
          <a:bodyPr wrap="square" rtlCol="0">
            <a:spAutoFit/>
          </a:bodyPr>
          <a:lstStyle/>
          <a:p>
            <a:r>
              <a:rPr kumimoji="0" lang="en-US" sz="3200" b="1" i="0" u="none" strike="noStrike" kern="1200" cap="none" spc="-70" normalizeH="0" baseline="0" noProof="0" dirty="0">
                <a:ln>
                  <a:noFill/>
                </a:ln>
                <a:solidFill>
                  <a:srgbClr val="FFFFFF"/>
                </a:solidFill>
                <a:effectLst/>
                <a:uLnTx/>
                <a:uFillTx/>
                <a:latin typeface="Trebuchet MS"/>
                <a:ea typeface="+mj-ea"/>
                <a:cs typeface="+mj-cs"/>
              </a:rPr>
              <a:t>KEY FINDINGS FROM SALES AND PROFIT ANALYSIS</a:t>
            </a:r>
            <a:endParaRPr lang="en-US" dirty="0"/>
          </a:p>
        </p:txBody>
      </p:sp>
      <p:grpSp>
        <p:nvGrpSpPr>
          <p:cNvPr id="14" name="Group 13">
            <a:extLst>
              <a:ext uri="{FF2B5EF4-FFF2-40B4-BE49-F238E27FC236}">
                <a16:creationId xmlns:a16="http://schemas.microsoft.com/office/drawing/2014/main" id="{5B29EF2A-EAD3-4D13-AAEB-F2C15E44204C}"/>
              </a:ext>
            </a:extLst>
          </p:cNvPr>
          <p:cNvGrpSpPr/>
          <p:nvPr/>
        </p:nvGrpSpPr>
        <p:grpSpPr>
          <a:xfrm>
            <a:off x="998375" y="1039275"/>
            <a:ext cx="4114800" cy="3244843"/>
            <a:chOff x="438539" y="1039274"/>
            <a:chExt cx="4366726" cy="3465206"/>
          </a:xfrm>
        </p:grpSpPr>
        <p:pic>
          <p:nvPicPr>
            <p:cNvPr id="7" name="Picture 6">
              <a:extLst>
                <a:ext uri="{FF2B5EF4-FFF2-40B4-BE49-F238E27FC236}">
                  <a16:creationId xmlns:a16="http://schemas.microsoft.com/office/drawing/2014/main" id="{FA2C01F5-ED58-4CAA-8E46-1F76AE64604A}"/>
                </a:ext>
              </a:extLst>
            </p:cNvPr>
            <p:cNvPicPr>
              <a:picLocks noChangeAspect="1"/>
            </p:cNvPicPr>
            <p:nvPr/>
          </p:nvPicPr>
          <p:blipFill rotWithShape="1">
            <a:blip r:embed="rId2"/>
            <a:srcRect b="2066"/>
            <a:stretch/>
          </p:blipFill>
          <p:spPr>
            <a:xfrm>
              <a:off x="438539" y="1039274"/>
              <a:ext cx="4366726" cy="3056165"/>
            </a:xfrm>
            <a:prstGeom prst="rect">
              <a:avLst/>
            </a:prstGeom>
            <a:effectLst>
              <a:innerShdw blurRad="63500" dist="50800" dir="13500000">
                <a:prstClr val="black">
                  <a:alpha val="50000"/>
                </a:prstClr>
              </a:innerShdw>
            </a:effectLst>
          </p:spPr>
        </p:pic>
        <p:sp>
          <p:nvSpPr>
            <p:cNvPr id="11" name="TextBox 10">
              <a:extLst>
                <a:ext uri="{FF2B5EF4-FFF2-40B4-BE49-F238E27FC236}">
                  <a16:creationId xmlns:a16="http://schemas.microsoft.com/office/drawing/2014/main" id="{FB2CB9B8-D344-46B8-A493-9A6EE67D2F58}"/>
                </a:ext>
              </a:extLst>
            </p:cNvPr>
            <p:cNvSpPr txBox="1"/>
            <p:nvPr/>
          </p:nvSpPr>
          <p:spPr>
            <a:xfrm>
              <a:off x="2052733" y="4011463"/>
              <a:ext cx="1554405" cy="493017"/>
            </a:xfrm>
            <a:prstGeom prst="rect">
              <a:avLst/>
            </a:prstGeom>
            <a:noFill/>
          </p:spPr>
          <p:txBody>
            <a:bodyPr wrap="square" rtlCol="0">
              <a:spAutoFit/>
            </a:bodyPr>
            <a:lstStyle/>
            <a:p>
              <a:r>
                <a:rPr lang="en-US" sz="2400" dirty="0">
                  <a:solidFill>
                    <a:schemeClr val="bg1"/>
                  </a:solidFill>
                  <a:latin typeface="Arial Black" panose="020B0A04020102020204" pitchFamily="34" charset="0"/>
                </a:rPr>
                <a:t>SALES</a:t>
              </a:r>
            </a:p>
          </p:txBody>
        </p:sp>
      </p:grpSp>
      <p:grpSp>
        <p:nvGrpSpPr>
          <p:cNvPr id="13" name="Group 12">
            <a:extLst>
              <a:ext uri="{FF2B5EF4-FFF2-40B4-BE49-F238E27FC236}">
                <a16:creationId xmlns:a16="http://schemas.microsoft.com/office/drawing/2014/main" id="{47FF8BD3-9A14-4211-BDE7-8F000BBAC3E0}"/>
              </a:ext>
            </a:extLst>
          </p:cNvPr>
          <p:cNvGrpSpPr/>
          <p:nvPr/>
        </p:nvGrpSpPr>
        <p:grpSpPr>
          <a:xfrm>
            <a:off x="6591918" y="1039275"/>
            <a:ext cx="4114800" cy="3346114"/>
            <a:chOff x="6591918" y="1039274"/>
            <a:chExt cx="4366726" cy="3437619"/>
          </a:xfrm>
        </p:grpSpPr>
        <p:pic>
          <p:nvPicPr>
            <p:cNvPr id="9" name="Picture 8">
              <a:extLst>
                <a:ext uri="{FF2B5EF4-FFF2-40B4-BE49-F238E27FC236}">
                  <a16:creationId xmlns:a16="http://schemas.microsoft.com/office/drawing/2014/main" id="{9C357B9F-4ADC-4619-8458-B79C35B4D818}"/>
                </a:ext>
              </a:extLst>
            </p:cNvPr>
            <p:cNvPicPr>
              <a:picLocks noChangeAspect="1"/>
            </p:cNvPicPr>
            <p:nvPr/>
          </p:nvPicPr>
          <p:blipFill>
            <a:blip r:embed="rId3"/>
            <a:stretch>
              <a:fillRect/>
            </a:stretch>
          </p:blipFill>
          <p:spPr>
            <a:xfrm>
              <a:off x="6591918" y="1039274"/>
              <a:ext cx="4366726" cy="3056165"/>
            </a:xfrm>
            <a:prstGeom prst="rect">
              <a:avLst/>
            </a:prstGeom>
            <a:effectLst>
              <a:innerShdw blurRad="63500" dist="50800" dir="18900000">
                <a:prstClr val="black">
                  <a:alpha val="50000"/>
                </a:prstClr>
              </a:innerShdw>
            </a:effectLst>
          </p:spPr>
        </p:pic>
        <p:sp>
          <p:nvSpPr>
            <p:cNvPr id="12" name="TextBox 11">
              <a:extLst>
                <a:ext uri="{FF2B5EF4-FFF2-40B4-BE49-F238E27FC236}">
                  <a16:creationId xmlns:a16="http://schemas.microsoft.com/office/drawing/2014/main" id="{75816C01-3A95-4AC6-889F-C6677C4A4FE9}"/>
                </a:ext>
              </a:extLst>
            </p:cNvPr>
            <p:cNvSpPr txBox="1"/>
            <p:nvPr/>
          </p:nvSpPr>
          <p:spPr>
            <a:xfrm>
              <a:off x="7954345" y="4015228"/>
              <a:ext cx="1656186"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PROFIT</a:t>
              </a:r>
            </a:p>
          </p:txBody>
        </p:sp>
      </p:grpSp>
      <p:sp>
        <p:nvSpPr>
          <p:cNvPr id="15" name="TextBox 14">
            <a:extLst>
              <a:ext uri="{FF2B5EF4-FFF2-40B4-BE49-F238E27FC236}">
                <a16:creationId xmlns:a16="http://schemas.microsoft.com/office/drawing/2014/main" id="{53B73899-28B2-4265-9E95-B38623EFD932}"/>
              </a:ext>
            </a:extLst>
          </p:cNvPr>
          <p:cNvSpPr txBox="1"/>
          <p:nvPr/>
        </p:nvSpPr>
        <p:spPr>
          <a:xfrm>
            <a:off x="198656" y="4385389"/>
            <a:ext cx="3097763"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Top performers</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 </a:t>
            </a:r>
            <a:r>
              <a:rPr lang="en-US" u="sng" dirty="0">
                <a:solidFill>
                  <a:schemeClr val="bg1"/>
                </a:solidFill>
              </a:rPr>
              <a:t>California</a:t>
            </a:r>
            <a:r>
              <a:rPr lang="en-US" dirty="0">
                <a:solidFill>
                  <a:schemeClr val="bg1"/>
                </a:solidFill>
              </a:rPr>
              <a:t>, </a:t>
            </a:r>
            <a:r>
              <a:rPr lang="en-US" u="sng" dirty="0">
                <a:solidFill>
                  <a:schemeClr val="bg1"/>
                </a:solidFill>
              </a:rPr>
              <a:t>New York</a:t>
            </a:r>
            <a:r>
              <a:rPr lang="en-US" dirty="0">
                <a:solidFill>
                  <a:schemeClr val="bg1"/>
                </a:solidFill>
              </a:rPr>
              <a:t>, and </a:t>
            </a:r>
            <a:r>
              <a:rPr lang="en-US" u="sng" dirty="0">
                <a:solidFill>
                  <a:schemeClr val="bg1"/>
                </a:solidFill>
              </a:rPr>
              <a:t>Washington</a:t>
            </a:r>
            <a:r>
              <a:rPr lang="en-US" dirty="0">
                <a:solidFill>
                  <a:schemeClr val="bg1"/>
                </a:solidFill>
              </a:rPr>
              <a:t> dominate in both sales and profits.</a:t>
            </a:r>
          </a:p>
        </p:txBody>
      </p:sp>
      <p:sp>
        <p:nvSpPr>
          <p:cNvPr id="16" name="TextBox 15">
            <a:extLst>
              <a:ext uri="{FF2B5EF4-FFF2-40B4-BE49-F238E27FC236}">
                <a16:creationId xmlns:a16="http://schemas.microsoft.com/office/drawing/2014/main" id="{BCAF1A05-7297-45BC-A375-B6EE7E60F8B5}"/>
              </a:ext>
            </a:extLst>
          </p:cNvPr>
          <p:cNvSpPr txBox="1"/>
          <p:nvPr/>
        </p:nvSpPr>
        <p:spPr>
          <a:xfrm>
            <a:off x="3473034" y="4385389"/>
            <a:ext cx="3714958"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Sales-profit disparities</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 High sales but low profits: </a:t>
            </a:r>
            <a:r>
              <a:rPr lang="en-US" u="sng" dirty="0">
                <a:solidFill>
                  <a:schemeClr val="bg1"/>
                </a:solidFill>
              </a:rPr>
              <a:t>Texas</a:t>
            </a:r>
            <a:r>
              <a:rPr lang="en-US" dirty="0">
                <a:solidFill>
                  <a:schemeClr val="bg1"/>
                </a:solidFill>
              </a:rPr>
              <a:t>, </a:t>
            </a:r>
            <a:r>
              <a:rPr lang="en-US" u="sng" dirty="0">
                <a:solidFill>
                  <a:schemeClr val="bg1"/>
                </a:solidFill>
              </a:rPr>
              <a:t>Pennsylvania</a:t>
            </a:r>
            <a:r>
              <a:rPr lang="en-US" dirty="0">
                <a:solidFill>
                  <a:schemeClr val="bg1"/>
                </a:solidFill>
              </a:rPr>
              <a:t>, </a:t>
            </a:r>
            <a:r>
              <a:rPr lang="en-US" u="sng" dirty="0">
                <a:solidFill>
                  <a:schemeClr val="bg1"/>
                </a:solidFill>
              </a:rPr>
              <a:t>Florida</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 High profits but lower sales: </a:t>
            </a:r>
          </a:p>
          <a:p>
            <a:pPr marL="746125" indent="-401638"/>
            <a:r>
              <a:rPr lang="en-US" dirty="0">
                <a:solidFill>
                  <a:schemeClr val="bg1"/>
                </a:solidFill>
              </a:rPr>
              <a:t>      </a:t>
            </a:r>
            <a:r>
              <a:rPr lang="en-US" u="sng" dirty="0">
                <a:solidFill>
                  <a:schemeClr val="bg1"/>
                </a:solidFill>
              </a:rPr>
              <a:t>Michigan</a:t>
            </a:r>
            <a:r>
              <a:rPr lang="en-US" dirty="0">
                <a:solidFill>
                  <a:schemeClr val="bg1"/>
                </a:solidFill>
              </a:rPr>
              <a:t>, </a:t>
            </a:r>
            <a:r>
              <a:rPr lang="en-US" u="sng" dirty="0">
                <a:solidFill>
                  <a:schemeClr val="bg1"/>
                </a:solidFill>
              </a:rPr>
              <a:t>Indiana</a:t>
            </a:r>
            <a:r>
              <a:rPr lang="en-US" dirty="0">
                <a:solidFill>
                  <a:schemeClr val="bg1"/>
                </a:solidFill>
              </a:rPr>
              <a:t>,    </a:t>
            </a:r>
            <a:r>
              <a:rPr lang="en-US" u="sng" dirty="0">
                <a:solidFill>
                  <a:schemeClr val="bg1"/>
                </a:solidFill>
              </a:rPr>
              <a:t>Delaware</a:t>
            </a:r>
            <a:r>
              <a:rPr lang="en-US" dirty="0">
                <a:solidFill>
                  <a:schemeClr val="bg1"/>
                </a:solidFill>
              </a:rPr>
              <a:t>.</a:t>
            </a:r>
          </a:p>
        </p:txBody>
      </p:sp>
      <p:sp>
        <p:nvSpPr>
          <p:cNvPr id="17" name="TextBox 16">
            <a:extLst>
              <a:ext uri="{FF2B5EF4-FFF2-40B4-BE49-F238E27FC236}">
                <a16:creationId xmlns:a16="http://schemas.microsoft.com/office/drawing/2014/main" id="{8C8A1235-A0E4-46D2-997D-A021AF86E2BB}"/>
              </a:ext>
            </a:extLst>
          </p:cNvPr>
          <p:cNvSpPr txBox="1"/>
          <p:nvPr/>
        </p:nvSpPr>
        <p:spPr>
          <a:xfrm>
            <a:off x="7187992" y="4385389"/>
            <a:ext cx="2973045"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Opportunities</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 States like </a:t>
            </a:r>
            <a:r>
              <a:rPr lang="en-US" u="sng" dirty="0">
                <a:solidFill>
                  <a:schemeClr val="bg1"/>
                </a:solidFill>
              </a:rPr>
              <a:t>Delaware</a:t>
            </a:r>
            <a:r>
              <a:rPr lang="en-US" dirty="0">
                <a:solidFill>
                  <a:schemeClr val="bg1"/>
                </a:solidFill>
              </a:rPr>
              <a:t> and </a:t>
            </a:r>
            <a:r>
              <a:rPr lang="en-US" u="sng" dirty="0">
                <a:solidFill>
                  <a:schemeClr val="bg1"/>
                </a:solidFill>
              </a:rPr>
              <a:t>Kentucky</a:t>
            </a:r>
            <a:r>
              <a:rPr lang="en-US" dirty="0">
                <a:solidFill>
                  <a:schemeClr val="bg1"/>
                </a:solidFill>
              </a:rPr>
              <a:t> have high profitability potential despite lower sales volumes. </a:t>
            </a:r>
          </a:p>
        </p:txBody>
      </p:sp>
    </p:spTree>
    <p:extLst>
      <p:ext uri="{BB962C8B-B14F-4D97-AF65-F5344CB8AC3E}">
        <p14:creationId xmlns:p14="http://schemas.microsoft.com/office/powerpoint/2010/main" val="29328196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1+#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6E9980-AB02-458B-AC38-15BDA4689C99}"/>
              </a:ext>
            </a:extLst>
          </p:cNvPr>
          <p:cNvSpPr txBox="1"/>
          <p:nvPr/>
        </p:nvSpPr>
        <p:spPr>
          <a:xfrm>
            <a:off x="261258" y="494523"/>
            <a:ext cx="6242179" cy="584775"/>
          </a:xfrm>
          <a:prstGeom prst="rect">
            <a:avLst/>
          </a:prstGeom>
          <a:noFill/>
        </p:spPr>
        <p:txBody>
          <a:bodyPr wrap="square" rtlCol="0">
            <a:spAutoFit/>
          </a:bodyPr>
          <a:lstStyle/>
          <a:p>
            <a:r>
              <a:rPr lang="en-US" sz="3200" b="1" spc="-70" dirty="0">
                <a:solidFill>
                  <a:srgbClr val="FFFFFF"/>
                </a:solidFill>
                <a:latin typeface="Trebuchet MS"/>
                <a:ea typeface="+mj-ea"/>
                <a:cs typeface="+mj-cs"/>
              </a:rPr>
              <a:t>ACTIONABLE RECOMMENDATIONS</a:t>
            </a:r>
            <a:endParaRPr lang="en-US" dirty="0"/>
          </a:p>
        </p:txBody>
      </p:sp>
      <p:pic>
        <p:nvPicPr>
          <p:cNvPr id="5" name="Picture 4">
            <a:extLst>
              <a:ext uri="{FF2B5EF4-FFF2-40B4-BE49-F238E27FC236}">
                <a16:creationId xmlns:a16="http://schemas.microsoft.com/office/drawing/2014/main" id="{7117E46F-B8A1-4CB0-A8A5-E2E07EEAD6C4}"/>
              </a:ext>
            </a:extLst>
          </p:cNvPr>
          <p:cNvPicPr>
            <a:picLocks noChangeAspect="1"/>
          </p:cNvPicPr>
          <p:nvPr/>
        </p:nvPicPr>
        <p:blipFill>
          <a:blip r:embed="rId2"/>
          <a:stretch>
            <a:fillRect/>
          </a:stretch>
        </p:blipFill>
        <p:spPr>
          <a:xfrm>
            <a:off x="3229463" y="1263344"/>
            <a:ext cx="2875868" cy="2974610"/>
          </a:xfrm>
          <a:prstGeom prst="rect">
            <a:avLst/>
          </a:prstGeom>
          <a:effectLst>
            <a:innerShdw blurRad="114300">
              <a:prstClr val="black"/>
            </a:innerShdw>
          </a:effectLst>
        </p:spPr>
      </p:pic>
      <p:pic>
        <p:nvPicPr>
          <p:cNvPr id="7" name="Picture 6">
            <a:extLst>
              <a:ext uri="{FF2B5EF4-FFF2-40B4-BE49-F238E27FC236}">
                <a16:creationId xmlns:a16="http://schemas.microsoft.com/office/drawing/2014/main" id="{D4295482-9432-4FE4-8924-D7B754338B4F}"/>
              </a:ext>
            </a:extLst>
          </p:cNvPr>
          <p:cNvPicPr>
            <a:picLocks noChangeAspect="1"/>
          </p:cNvPicPr>
          <p:nvPr/>
        </p:nvPicPr>
        <p:blipFill>
          <a:blip r:embed="rId3"/>
          <a:stretch>
            <a:fillRect/>
          </a:stretch>
        </p:blipFill>
        <p:spPr>
          <a:xfrm>
            <a:off x="261258" y="1265199"/>
            <a:ext cx="2875868" cy="2972755"/>
          </a:xfrm>
          <a:prstGeom prst="rect">
            <a:avLst/>
          </a:prstGeom>
          <a:effectLst>
            <a:innerShdw blurRad="114300">
              <a:prstClr val="black"/>
            </a:innerShdw>
          </a:effectLst>
        </p:spPr>
      </p:pic>
      <p:sp>
        <p:nvSpPr>
          <p:cNvPr id="8" name="TextBox 7">
            <a:extLst>
              <a:ext uri="{FF2B5EF4-FFF2-40B4-BE49-F238E27FC236}">
                <a16:creationId xmlns:a16="http://schemas.microsoft.com/office/drawing/2014/main" id="{417AB4C4-6291-4A16-BEA2-7F36638BBF0D}"/>
              </a:ext>
            </a:extLst>
          </p:cNvPr>
          <p:cNvSpPr txBox="1"/>
          <p:nvPr/>
        </p:nvSpPr>
        <p:spPr>
          <a:xfrm>
            <a:off x="1144020" y="4237954"/>
            <a:ext cx="1110343" cy="369332"/>
          </a:xfrm>
          <a:prstGeom prst="rect">
            <a:avLst/>
          </a:prstGeom>
          <a:noFill/>
        </p:spPr>
        <p:txBody>
          <a:bodyPr wrap="square" rtlCol="0">
            <a:spAutoFit/>
          </a:bodyPr>
          <a:lstStyle/>
          <a:p>
            <a:r>
              <a:rPr lang="en-US" b="1" dirty="0">
                <a:solidFill>
                  <a:schemeClr val="bg1"/>
                </a:solidFill>
              </a:rPr>
              <a:t>SALES</a:t>
            </a:r>
          </a:p>
        </p:txBody>
      </p:sp>
      <p:sp>
        <p:nvSpPr>
          <p:cNvPr id="9" name="TextBox 8">
            <a:extLst>
              <a:ext uri="{FF2B5EF4-FFF2-40B4-BE49-F238E27FC236}">
                <a16:creationId xmlns:a16="http://schemas.microsoft.com/office/drawing/2014/main" id="{17990A47-942E-4E7F-9DB4-54AFD9D94535}"/>
              </a:ext>
            </a:extLst>
          </p:cNvPr>
          <p:cNvSpPr txBox="1"/>
          <p:nvPr/>
        </p:nvSpPr>
        <p:spPr>
          <a:xfrm>
            <a:off x="4112225" y="4237954"/>
            <a:ext cx="1110343" cy="369332"/>
          </a:xfrm>
          <a:prstGeom prst="rect">
            <a:avLst/>
          </a:prstGeom>
          <a:noFill/>
        </p:spPr>
        <p:txBody>
          <a:bodyPr wrap="square" rtlCol="0">
            <a:spAutoFit/>
          </a:bodyPr>
          <a:lstStyle/>
          <a:p>
            <a:r>
              <a:rPr lang="en-US" b="1" dirty="0">
                <a:solidFill>
                  <a:schemeClr val="bg1"/>
                </a:solidFill>
              </a:rPr>
              <a:t>PROFIT</a:t>
            </a:r>
          </a:p>
        </p:txBody>
      </p:sp>
      <p:sp>
        <p:nvSpPr>
          <p:cNvPr id="11" name="TextBox 10">
            <a:extLst>
              <a:ext uri="{FF2B5EF4-FFF2-40B4-BE49-F238E27FC236}">
                <a16:creationId xmlns:a16="http://schemas.microsoft.com/office/drawing/2014/main" id="{DC847F9D-4F29-476F-B3FD-197C7C9F0581}"/>
              </a:ext>
            </a:extLst>
          </p:cNvPr>
          <p:cNvSpPr txBox="1"/>
          <p:nvPr/>
        </p:nvSpPr>
        <p:spPr>
          <a:xfrm>
            <a:off x="6568751" y="1285164"/>
            <a:ext cx="4945224" cy="5078313"/>
          </a:xfrm>
          <a:prstGeom prst="rect">
            <a:avLst/>
          </a:prstGeom>
          <a:noFill/>
        </p:spPr>
        <p:txBody>
          <a:bodyPr wrap="square" rtlCol="0">
            <a:spAutoFit/>
          </a:bodyPr>
          <a:lstStyle/>
          <a:p>
            <a:pPr marL="342900" indent="-342900">
              <a:buFont typeface="+mj-lt"/>
              <a:buAutoNum type="arabicPeriod"/>
            </a:pPr>
            <a:r>
              <a:rPr lang="en-US" dirty="0">
                <a:solidFill>
                  <a:schemeClr val="bg1"/>
                </a:solidFill>
              </a:rPr>
              <a:t> </a:t>
            </a:r>
            <a:r>
              <a:rPr lang="en-US" b="1" dirty="0">
                <a:solidFill>
                  <a:schemeClr val="bg1"/>
                </a:solidFill>
              </a:rPr>
              <a:t>Focus On High-margin States</a:t>
            </a:r>
            <a:r>
              <a:rPr lang="en-US" dirty="0">
                <a:solidFill>
                  <a:schemeClr val="bg1"/>
                </a:solidFill>
              </a:rPr>
              <a:t>:</a:t>
            </a:r>
          </a:p>
          <a:p>
            <a:endParaRPr lang="en-US" dirty="0">
              <a:solidFill>
                <a:schemeClr val="bg1"/>
              </a:solidFill>
            </a:endParaRPr>
          </a:p>
          <a:p>
            <a:pPr marL="627063" indent="-342900">
              <a:buFont typeface="Courier New" panose="02070309020205020404" pitchFamily="49" charset="0"/>
              <a:buChar char="o"/>
            </a:pPr>
            <a:r>
              <a:rPr lang="en-US" dirty="0">
                <a:solidFill>
                  <a:schemeClr val="bg1"/>
                </a:solidFill>
              </a:rPr>
              <a:t>Scale operations in profitable states like </a:t>
            </a:r>
            <a:r>
              <a:rPr lang="en-US" u="sng" dirty="0">
                <a:solidFill>
                  <a:schemeClr val="bg1"/>
                </a:solidFill>
              </a:rPr>
              <a:t>Michigan</a:t>
            </a:r>
            <a:r>
              <a:rPr lang="en-US" dirty="0">
                <a:solidFill>
                  <a:schemeClr val="bg1"/>
                </a:solidFill>
              </a:rPr>
              <a:t> and </a:t>
            </a:r>
            <a:r>
              <a:rPr lang="en-US" u="sng" dirty="0">
                <a:solidFill>
                  <a:schemeClr val="bg1"/>
                </a:solidFill>
              </a:rPr>
              <a:t>Washington</a:t>
            </a:r>
            <a:r>
              <a:rPr lang="en-US" dirty="0">
                <a:solidFill>
                  <a:schemeClr val="bg1"/>
                </a:solidFill>
              </a:rPr>
              <a:t>. </a:t>
            </a:r>
          </a:p>
          <a:p>
            <a:pPr marL="284163"/>
            <a:endParaRPr lang="en-US" dirty="0">
              <a:solidFill>
                <a:schemeClr val="bg1"/>
              </a:solidFill>
            </a:endParaRPr>
          </a:p>
          <a:p>
            <a:pPr marL="284163"/>
            <a:r>
              <a:rPr lang="en-US" dirty="0">
                <a:solidFill>
                  <a:schemeClr val="bg1"/>
                </a:solidFill>
              </a:rPr>
              <a:t>    </a:t>
            </a:r>
          </a:p>
          <a:p>
            <a:pPr marL="342900" indent="-342900">
              <a:buFont typeface="+mj-lt"/>
              <a:buAutoNum type="arabicPeriod" startAt="2"/>
            </a:pPr>
            <a:r>
              <a:rPr lang="en-US" b="1" dirty="0">
                <a:solidFill>
                  <a:schemeClr val="bg1"/>
                </a:solidFill>
              </a:rPr>
              <a:t>Optimize Costs in High-Sales States</a:t>
            </a:r>
            <a:r>
              <a:rPr lang="en-US" dirty="0">
                <a:solidFill>
                  <a:schemeClr val="bg1"/>
                </a:solidFill>
              </a:rPr>
              <a:t>:</a:t>
            </a:r>
          </a:p>
          <a:p>
            <a:endParaRPr lang="en-US" dirty="0">
              <a:solidFill>
                <a:schemeClr val="bg1"/>
              </a:solidFill>
            </a:endParaRPr>
          </a:p>
          <a:p>
            <a:pPr marL="625475" indent="-285750">
              <a:buFont typeface="Courier New" panose="02070309020205020404" pitchFamily="49" charset="0"/>
              <a:buChar char="o"/>
            </a:pPr>
            <a:r>
              <a:rPr lang="en-US" dirty="0">
                <a:solidFill>
                  <a:schemeClr val="bg1"/>
                </a:solidFill>
              </a:rPr>
              <a:t> Conduct cost analyses in </a:t>
            </a:r>
            <a:r>
              <a:rPr lang="en-US" u="sng" dirty="0">
                <a:solidFill>
                  <a:schemeClr val="bg1"/>
                </a:solidFill>
              </a:rPr>
              <a:t>Texas, Pennsylvania</a:t>
            </a:r>
            <a:r>
              <a:rPr lang="en-US" dirty="0">
                <a:solidFill>
                  <a:schemeClr val="bg1"/>
                </a:solidFill>
              </a:rPr>
              <a:t>, and </a:t>
            </a:r>
            <a:r>
              <a:rPr lang="en-US" u="sng" dirty="0">
                <a:solidFill>
                  <a:schemeClr val="bg1"/>
                </a:solidFill>
              </a:rPr>
              <a:t>Florida</a:t>
            </a:r>
            <a:r>
              <a:rPr lang="en-US" dirty="0">
                <a:solidFill>
                  <a:schemeClr val="bg1"/>
                </a:solidFill>
              </a:rPr>
              <a:t> to improve margins.</a:t>
            </a:r>
          </a:p>
          <a:p>
            <a:pPr marL="339725"/>
            <a:endParaRPr lang="en-US" dirty="0">
              <a:solidFill>
                <a:schemeClr val="bg1"/>
              </a:solidFill>
            </a:endParaRPr>
          </a:p>
          <a:p>
            <a:pPr marL="339725"/>
            <a:endParaRPr lang="en-US" dirty="0">
              <a:solidFill>
                <a:schemeClr val="bg1"/>
              </a:solidFill>
            </a:endParaRPr>
          </a:p>
          <a:p>
            <a:pPr marL="342900" indent="-342900">
              <a:buFont typeface="+mj-lt"/>
              <a:buAutoNum type="arabicPeriod" startAt="3"/>
            </a:pPr>
            <a:r>
              <a:rPr lang="en-US" b="1" dirty="0">
                <a:solidFill>
                  <a:schemeClr val="bg1"/>
                </a:solidFill>
              </a:rPr>
              <a:t>Expand High-profit, Low-Sales States</a:t>
            </a:r>
            <a:r>
              <a:rPr lang="en-US" dirty="0">
                <a:solidFill>
                  <a:schemeClr val="bg1"/>
                </a:solidFill>
              </a:rPr>
              <a:t>:</a:t>
            </a:r>
          </a:p>
          <a:p>
            <a:endParaRPr lang="en-US" dirty="0">
              <a:solidFill>
                <a:schemeClr val="bg1"/>
              </a:solidFill>
            </a:endParaRPr>
          </a:p>
          <a:p>
            <a:pPr marL="690563" indent="-285750">
              <a:buFont typeface="Courier New" panose="02070309020205020404" pitchFamily="49" charset="0"/>
              <a:buChar char="o"/>
            </a:pPr>
            <a:r>
              <a:rPr lang="en-US" dirty="0">
                <a:solidFill>
                  <a:schemeClr val="bg1"/>
                </a:solidFill>
              </a:rPr>
              <a:t>Invest in marketing and operations in states like </a:t>
            </a:r>
            <a:r>
              <a:rPr lang="en-US" u="sng" dirty="0">
                <a:solidFill>
                  <a:schemeClr val="bg1"/>
                </a:solidFill>
              </a:rPr>
              <a:t>Delaware</a:t>
            </a:r>
            <a:r>
              <a:rPr lang="en-US" dirty="0">
                <a:solidFill>
                  <a:schemeClr val="bg1"/>
                </a:solidFill>
              </a:rPr>
              <a:t> and </a:t>
            </a:r>
            <a:r>
              <a:rPr lang="en-US" u="sng" dirty="0">
                <a:solidFill>
                  <a:schemeClr val="bg1"/>
                </a:solidFill>
              </a:rPr>
              <a:t>Kentucky</a:t>
            </a:r>
            <a:r>
              <a:rPr lang="en-US" dirty="0">
                <a:solidFill>
                  <a:schemeClr val="bg1"/>
                </a:solidFill>
              </a:rPr>
              <a:t> to scale revenue.    </a:t>
            </a:r>
          </a:p>
        </p:txBody>
      </p:sp>
    </p:spTree>
    <p:extLst>
      <p:ext uri="{BB962C8B-B14F-4D97-AF65-F5344CB8AC3E}">
        <p14:creationId xmlns:p14="http://schemas.microsoft.com/office/powerpoint/2010/main" val="178946324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3356D1-15B1-4497-B632-188B71741830}"/>
              </a:ext>
            </a:extLst>
          </p:cNvPr>
          <p:cNvSpPr txBox="1"/>
          <p:nvPr/>
        </p:nvSpPr>
        <p:spPr>
          <a:xfrm>
            <a:off x="261259" y="494523"/>
            <a:ext cx="5834741" cy="584775"/>
          </a:xfrm>
          <a:prstGeom prst="rect">
            <a:avLst/>
          </a:prstGeom>
          <a:noFill/>
        </p:spPr>
        <p:txBody>
          <a:bodyPr wrap="square" rtlCol="0">
            <a:spAutoFit/>
          </a:bodyPr>
          <a:lstStyle/>
          <a:p>
            <a:r>
              <a:rPr lang="en-US" sz="3200" b="1" spc="-70" dirty="0">
                <a:solidFill>
                  <a:srgbClr val="FFFFFF"/>
                </a:solidFill>
                <a:latin typeface="Trebuchet MS"/>
                <a:ea typeface="+mj-ea"/>
                <a:cs typeface="+mj-cs"/>
              </a:rPr>
              <a:t>CONCLUSION AND NEXT STEPS</a:t>
            </a:r>
            <a:endParaRPr lang="en-US" dirty="0"/>
          </a:p>
        </p:txBody>
      </p:sp>
      <p:sp>
        <p:nvSpPr>
          <p:cNvPr id="5" name="TextBox 4">
            <a:extLst>
              <a:ext uri="{FF2B5EF4-FFF2-40B4-BE49-F238E27FC236}">
                <a16:creationId xmlns:a16="http://schemas.microsoft.com/office/drawing/2014/main" id="{7CE6210A-A346-468B-9F33-09818D8C7FEA}"/>
              </a:ext>
            </a:extLst>
          </p:cNvPr>
          <p:cNvSpPr txBox="1"/>
          <p:nvPr/>
        </p:nvSpPr>
        <p:spPr>
          <a:xfrm>
            <a:off x="373224" y="1604865"/>
            <a:ext cx="6242180" cy="1508105"/>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Summary</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Balance  between sales and profits is critical for sustainable growth.</a:t>
            </a:r>
          </a:p>
          <a:p>
            <a:pPr marL="625475" indent="-285750">
              <a:buFont typeface="Courier New" panose="02070309020205020404" pitchFamily="49" charset="0"/>
              <a:buChar char="o"/>
            </a:pPr>
            <a:r>
              <a:rPr lang="en-US" dirty="0">
                <a:solidFill>
                  <a:schemeClr val="bg1"/>
                </a:solidFill>
              </a:rPr>
              <a:t> Strategic focus on both high-performing and high-potential states will maximize returns.</a:t>
            </a:r>
          </a:p>
        </p:txBody>
      </p:sp>
      <p:sp>
        <p:nvSpPr>
          <p:cNvPr id="6" name="TextBox 5">
            <a:extLst>
              <a:ext uri="{FF2B5EF4-FFF2-40B4-BE49-F238E27FC236}">
                <a16:creationId xmlns:a16="http://schemas.microsoft.com/office/drawing/2014/main" id="{6FF43822-1729-433F-B71E-3259079271D4}"/>
              </a:ext>
            </a:extLst>
          </p:cNvPr>
          <p:cNvSpPr txBox="1"/>
          <p:nvPr/>
        </p:nvSpPr>
        <p:spPr>
          <a:xfrm>
            <a:off x="373224" y="3638537"/>
            <a:ext cx="6242180" cy="1508105"/>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Next steps</a:t>
            </a:r>
            <a:r>
              <a:rPr lang="en-US" dirty="0">
                <a:solidFill>
                  <a:schemeClr val="bg1"/>
                </a:solidFill>
              </a:rPr>
              <a:t>:</a:t>
            </a:r>
          </a:p>
          <a:p>
            <a:pPr marL="625475" indent="-285750">
              <a:buFont typeface="Courier New" panose="02070309020205020404" pitchFamily="49" charset="0"/>
              <a:buChar char="o"/>
            </a:pPr>
            <a:r>
              <a:rPr lang="en-US" dirty="0">
                <a:solidFill>
                  <a:schemeClr val="bg1"/>
                </a:solidFill>
              </a:rPr>
              <a:t>Perform deeper cost analysis in underperforming regions.</a:t>
            </a:r>
          </a:p>
          <a:p>
            <a:pPr marL="625475" indent="-285750">
              <a:buFont typeface="Courier New" panose="02070309020205020404" pitchFamily="49" charset="0"/>
              <a:buChar char="o"/>
            </a:pPr>
            <a:r>
              <a:rPr lang="en-US" dirty="0">
                <a:solidFill>
                  <a:schemeClr val="bg1"/>
                </a:solidFill>
              </a:rPr>
              <a:t> Prioritize investments in states with high profit-to- sales ratios.</a:t>
            </a:r>
          </a:p>
        </p:txBody>
      </p:sp>
    </p:spTree>
    <p:extLst>
      <p:ext uri="{BB962C8B-B14F-4D97-AF65-F5344CB8AC3E}">
        <p14:creationId xmlns:p14="http://schemas.microsoft.com/office/powerpoint/2010/main" val="302215198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099AEB4-8B06-4503-963E-82F5EE179F69}"/>
              </a:ext>
            </a:extLst>
          </p:cNvPr>
          <p:cNvGrpSpPr/>
          <p:nvPr/>
        </p:nvGrpSpPr>
        <p:grpSpPr>
          <a:xfrm>
            <a:off x="4096140" y="1530220"/>
            <a:ext cx="7215672" cy="4248702"/>
            <a:chOff x="1427585" y="681135"/>
            <a:chExt cx="7215672" cy="4248702"/>
          </a:xfrm>
        </p:grpSpPr>
        <p:sp>
          <p:nvSpPr>
            <p:cNvPr id="6" name="TextBox 5">
              <a:extLst>
                <a:ext uri="{FF2B5EF4-FFF2-40B4-BE49-F238E27FC236}">
                  <a16:creationId xmlns:a16="http://schemas.microsoft.com/office/drawing/2014/main" id="{4DE2CB62-93E4-4A76-89F0-204E5D5FE4AC}"/>
                </a:ext>
              </a:extLst>
            </p:cNvPr>
            <p:cNvSpPr txBox="1"/>
            <p:nvPr/>
          </p:nvSpPr>
          <p:spPr>
            <a:xfrm>
              <a:off x="3181740" y="681135"/>
              <a:ext cx="3928187" cy="830997"/>
            </a:xfrm>
            <a:prstGeom prst="rect">
              <a:avLst/>
            </a:prstGeom>
            <a:noFill/>
          </p:spPr>
          <p:txBody>
            <a:bodyPr wrap="square" rtlCol="0">
              <a:spAutoFit/>
            </a:bodyPr>
            <a:lstStyle/>
            <a:p>
              <a:r>
                <a:rPr lang="en-US" sz="4800" b="1" spc="-70" dirty="0">
                  <a:solidFill>
                    <a:srgbClr val="FFFFFF"/>
                  </a:solidFill>
                  <a:latin typeface="Trebuchet MS"/>
                  <a:ea typeface="+mj-ea"/>
                  <a:cs typeface="+mj-cs"/>
                </a:rPr>
                <a:t>THANK YOU!</a:t>
              </a:r>
              <a:endParaRPr lang="en-US" sz="4800" dirty="0"/>
            </a:p>
          </p:txBody>
        </p:sp>
        <p:sp>
          <p:nvSpPr>
            <p:cNvPr id="7" name="TextBox 6">
              <a:extLst>
                <a:ext uri="{FF2B5EF4-FFF2-40B4-BE49-F238E27FC236}">
                  <a16:creationId xmlns:a16="http://schemas.microsoft.com/office/drawing/2014/main" id="{C6C6E8C3-FEFA-4F3F-876E-831CD5E0E75F}"/>
                </a:ext>
              </a:extLst>
            </p:cNvPr>
            <p:cNvSpPr txBox="1"/>
            <p:nvPr/>
          </p:nvSpPr>
          <p:spPr>
            <a:xfrm>
              <a:off x="3181740" y="1912775"/>
              <a:ext cx="3135086" cy="1077218"/>
            </a:xfrm>
            <a:prstGeom prst="rect">
              <a:avLst/>
            </a:prstGeom>
            <a:noFill/>
          </p:spPr>
          <p:txBody>
            <a:bodyPr wrap="square" rtlCol="0">
              <a:spAutoFit/>
            </a:bodyPr>
            <a:lstStyle/>
            <a:p>
              <a:r>
                <a:rPr lang="en-US" sz="3200" dirty="0">
                  <a:solidFill>
                    <a:schemeClr val="bg1"/>
                  </a:solidFill>
                </a:rPr>
                <a:t>Questions? </a:t>
              </a:r>
            </a:p>
            <a:p>
              <a:r>
                <a:rPr lang="en-US" sz="3200" dirty="0">
                  <a:solidFill>
                    <a:schemeClr val="bg1"/>
                  </a:solidFill>
                </a:rPr>
                <a:t>Let’s discuss!</a:t>
              </a:r>
            </a:p>
          </p:txBody>
        </p:sp>
        <p:sp>
          <p:nvSpPr>
            <p:cNvPr id="8" name="TextBox 7">
              <a:extLst>
                <a:ext uri="{FF2B5EF4-FFF2-40B4-BE49-F238E27FC236}">
                  <a16:creationId xmlns:a16="http://schemas.microsoft.com/office/drawing/2014/main" id="{177F87D5-F7EC-4A40-9F83-76173382FAA2}"/>
                </a:ext>
              </a:extLst>
            </p:cNvPr>
            <p:cNvSpPr txBox="1"/>
            <p:nvPr/>
          </p:nvSpPr>
          <p:spPr>
            <a:xfrm>
              <a:off x="3548742" y="3544842"/>
              <a:ext cx="5094515" cy="1384995"/>
            </a:xfrm>
            <a:prstGeom prst="rect">
              <a:avLst/>
            </a:prstGeom>
            <a:noFill/>
          </p:spPr>
          <p:txBody>
            <a:bodyPr wrap="square" rtlCol="0">
              <a:spAutoFit/>
            </a:bodyPr>
            <a:lstStyle/>
            <a:p>
              <a:r>
                <a:rPr lang="en-US" sz="2800" dirty="0">
                  <a:solidFill>
                    <a:schemeClr val="accent1">
                      <a:lumMod val="60000"/>
                      <a:lumOff val="40000"/>
                    </a:schemeClr>
                  </a:solidFill>
                  <a:hlinkClick r:id="rId2">
                    <a:extLst>
                      <a:ext uri="{A12FA001-AC4F-418D-AE19-62706E023703}">
                        <ahyp:hlinkClr xmlns:ahyp="http://schemas.microsoft.com/office/drawing/2018/hyperlinkcolor" val="tx"/>
                      </a:ext>
                    </a:extLst>
                  </a:hlinkClick>
                </a:rPr>
                <a:t>gaurav979mahato@gmail.com</a:t>
              </a:r>
            </a:p>
            <a:p>
              <a:r>
                <a:rPr lang="en-US" sz="2800" dirty="0">
                  <a:solidFill>
                    <a:schemeClr val="accent1">
                      <a:lumMod val="60000"/>
                      <a:lumOff val="40000"/>
                    </a:schemeClr>
                  </a:solidFill>
                  <a:hlinkClick r:id="rId2">
                    <a:extLst>
                      <a:ext uri="{A12FA001-AC4F-418D-AE19-62706E023703}">
                        <ahyp:hlinkClr xmlns:ahyp="http://schemas.microsoft.com/office/drawing/2018/hyperlinkcolor" val="tx"/>
                      </a:ext>
                    </a:extLst>
                  </a:hlinkClick>
                </a:rPr>
                <a:t> </a:t>
              </a:r>
              <a:endParaRPr lang="en-US" sz="2800" dirty="0">
                <a:solidFill>
                  <a:schemeClr val="accent1">
                    <a:lumMod val="60000"/>
                    <a:lumOff val="40000"/>
                  </a:schemeClr>
                </a:solidFill>
              </a:endParaRPr>
            </a:p>
            <a:p>
              <a:r>
                <a:rPr lang="en-US" sz="2800"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LinkedIn</a:t>
              </a:r>
              <a:endParaRPr lang="en-US" sz="2800" dirty="0">
                <a:solidFill>
                  <a:schemeClr val="accent1">
                    <a:lumMod val="60000"/>
                    <a:lumOff val="40000"/>
                  </a:schemeClr>
                </a:solidFill>
              </a:endParaRPr>
            </a:p>
          </p:txBody>
        </p:sp>
        <p:sp>
          <p:nvSpPr>
            <p:cNvPr id="9" name="TextBox 8">
              <a:extLst>
                <a:ext uri="{FF2B5EF4-FFF2-40B4-BE49-F238E27FC236}">
                  <a16:creationId xmlns:a16="http://schemas.microsoft.com/office/drawing/2014/main" id="{9525FB7F-44AF-46B5-92C4-764BAE1A5190}"/>
                </a:ext>
              </a:extLst>
            </p:cNvPr>
            <p:cNvSpPr txBox="1"/>
            <p:nvPr/>
          </p:nvSpPr>
          <p:spPr>
            <a:xfrm>
              <a:off x="1427585" y="3558838"/>
              <a:ext cx="1754156" cy="523220"/>
            </a:xfrm>
            <a:prstGeom prst="rect">
              <a:avLst/>
            </a:prstGeom>
            <a:noFill/>
          </p:spPr>
          <p:txBody>
            <a:bodyPr wrap="square" rtlCol="0">
              <a:spAutoFit/>
            </a:bodyPr>
            <a:lstStyle/>
            <a:p>
              <a:r>
                <a:rPr lang="en-US" sz="2800" b="1" dirty="0">
                  <a:solidFill>
                    <a:schemeClr val="bg1"/>
                  </a:solidFill>
                </a:rPr>
                <a:t>Contact:</a:t>
              </a:r>
              <a:r>
                <a:rPr lang="en-US" sz="2800" dirty="0">
                  <a:solidFill>
                    <a:schemeClr val="bg1"/>
                  </a:solidFill>
                </a:rPr>
                <a:t> </a:t>
              </a:r>
            </a:p>
          </p:txBody>
        </p:sp>
      </p:gr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TM03457485[[fn=Mesh]]</Template>
  <TotalTime>1455</TotalTime>
  <Words>713</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 Unicode MS</vt:lpstr>
      <vt:lpstr>Arial</vt:lpstr>
      <vt:lpstr>Arial Black</vt:lpstr>
      <vt:lpstr>Arial Rounded MT Bold</vt:lpstr>
      <vt:lpstr>Calibri</vt:lpstr>
      <vt:lpstr>Courier New</vt:lpstr>
      <vt:lpstr>Trade Gothic LT Pro</vt:lpstr>
      <vt:lpstr>Trebuchet MS</vt:lpstr>
      <vt:lpstr>Wingdings</vt:lpstr>
      <vt:lpstr>Office Theme</vt:lpstr>
      <vt:lpstr>SALES DATA ANALYSIS</vt:lpstr>
      <vt:lpstr>EXPLORATORY DATA ANALYSIS (EDA)</vt:lpstr>
      <vt:lpstr>INTRODUCING OUR DATASET</vt:lpstr>
      <vt:lpstr>CLEANING THE DATA FOR CLARITY</vt:lpstr>
      <vt:lpstr>ENSURING CONSISTENCY FOR ANALYSIS</vt:lpstr>
      <vt:lpstr>Unveiling Sales Trends</vt:lpstr>
      <vt:lpstr>THE POWER OF SEEING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Gaurav</dc:creator>
  <cp:lastModifiedBy>Gaurav</cp:lastModifiedBy>
  <cp:revision>72</cp:revision>
  <dcterms:created xsi:type="dcterms:W3CDTF">2024-06-20T07:57:59Z</dcterms:created>
  <dcterms:modified xsi:type="dcterms:W3CDTF">2025-12-20T14:17:03Z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